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image1_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image2_1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A1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0" y="6096000"/>
            <a:ext cx="12192000" cy="1524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/>
        </p:txBody>
      </p:sp>
      <p:pic>
        <p:nvPicPr>
          <p:cNvPr id="3" name="Lantern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sp>
        <p:nvSpPr>
          <p:cNvPr id="4" name="ph4"/>
          <p:cNvSpPr>
            <a:spLocks noGrp="1"/>
          </p:cNvSpPr>
          <p:nvPr>
            <p:ph type="ctrTitle"/>
          </p:nvPr>
        </p:nvSpPr>
        <p:spPr>
          <a:xfrm>
            <a:off x="914400" y="2381250"/>
            <a:ext cx="9525000" cy="1333500"/>
          </a:xfrm>
          <a:prstGeom prst="rect">
            <a:avLst/>
          </a:prstGeom>
        </p:spPr>
        <p:txBody>
          <a:bodyPr anchor="t"/>
          <a:lstStyle>
            <a:lvl1pPr>
              <a:buNone/>
              <a:defRPr sz="5400">
                <a:solidFill>
                  <a:srgbClr val="FFFFFF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5" name="ph5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9525000" cy="762000"/>
          </a:xfrm>
          <a:prstGeom prst="rect">
            <a:avLst/>
          </a:prstGeom>
        </p:spPr>
        <p:txBody>
          <a:bodyPr anchor="t"/>
          <a:lstStyle>
            <a:lvl1pPr>
              <a:buNone/>
              <a:defRPr sz="2400">
                <a:solidFill>
                  <a:srgbClr val="F5A623"/>
                </a:solidFill>
                <a:latin typeface="Verdana"/>
                <a:cs typeface="Verdana"/>
              </a:defRPr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A1D5C"/>
          </a:solidFill>
        </p:spPr>
        <p:txBody>
          <a:bodyPr/>
          <a:lstStyle/>
          <a:p/>
        </p:txBody>
      </p:sp>
      <p:sp>
        <p:nvSpPr>
          <p:cNvPr id="3" name="rect3"/>
          <p:cNvSpPr/>
          <p:nvPr/>
        </p:nvSpPr>
        <p:spPr>
          <a:xfrm>
            <a:off x="762000" y="1428750"/>
            <a:ext cx="1143000" cy="5715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/>
        </p:txBody>
      </p:sp>
      <p:pic>
        <p:nvPicPr>
          <p:cNvPr id="4" name="Lantern m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248400"/>
            <a:ext cx="381000" cy="381000"/>
          </a:xfrm>
          <a:prstGeom prst="rect">
            <a:avLst/>
          </a:prstGeom>
        </p:spPr>
      </p:pic>
      <p:sp>
        <p:nvSpPr>
          <p:cNvPr id="5" name="text5"/>
          <p:cNvSpPr txBox="1"/>
          <p:nvPr/>
        </p:nvSpPr>
        <p:spPr>
          <a:xfrm>
            <a:off x="1257300" y="6324600"/>
            <a:ext cx="666750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1100" b="0" i="0" dirty="0">
                <a:solidFill>
                  <a:srgbClr val="4A1D5C"/>
                </a:solidFill>
                <a:latin typeface="Verdana"/>
                <a:cs typeface="Verdana"/>
              </a:rPr>
              <a:t>Harbourside Night Market  |  Season review 2025</a:t>
            </a:r>
          </a:p>
        </p:txBody>
      </p:sp>
      <p:sp>
        <p:nvSpPr>
          <p:cNvPr id="6" name="ph6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668000" cy="800100"/>
          </a:xfrm>
          <a:prstGeom prst="rect">
            <a:avLst/>
          </a:prstGeom>
        </p:spPr>
        <p:txBody>
          <a:bodyPr anchor="t"/>
          <a:lstStyle>
            <a:lvl1pPr>
              <a:buNone/>
              <a:defRPr sz="3600">
                <a:solidFill>
                  <a:srgbClr val="4A1D5C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7" name="ph7"/>
          <p:cNvSpPr>
            <a:spLocks noGrp="1"/>
          </p:cNvSpPr>
          <p:nvPr>
            <p:ph type="body" idx="1"/>
          </p:nvPr>
        </p:nvSpPr>
        <p:spPr>
          <a:xfrm>
            <a:off x="762000" y="1809750"/>
            <a:ext cx="10668000" cy="4095750"/>
          </a:xfrm>
          <a:prstGeom prst="rect">
            <a:avLst/>
          </a:prstGeom>
        </p:spPr>
        <p:txBody>
          <a:bodyPr anchor="t"/>
          <a:lstStyle>
            <a:lvl1pPr>
              <a:defRPr sz="2000">
                <a:solidFill>
                  <a:srgbClr val="2B2233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8" name="ph8"/>
          <p:cNvSpPr>
            <a:spLocks noGrp="1"/>
          </p:cNvSpPr>
          <p:nvPr>
            <p:ph type="sldNum" idx="12"/>
          </p:nvPr>
        </p:nvSpPr>
        <p:spPr>
          <a:xfrm>
            <a:off x="11144250" y="6362700"/>
            <a:ext cx="666750" cy="266700"/>
          </a:xfrm>
          <a:prstGeom prst="rect">
            <a:avLst/>
          </a:prstGeom>
        </p:spPr>
        <p:txBody>
          <a:bodyPr anchor="t"/>
          <a:lstStyle>
            <a:lvl1pPr algn="r">
              <a:buNone/>
              <a:defRPr sz="1100">
                <a:solidFill>
                  <a:srgbClr val="4A1D5C"/>
                </a:solidFill>
              </a:defRPr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8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2"/>
          <p:cNvSpPr/>
          <p:nvPr/>
        </p:nvSpPr>
        <p:spPr>
          <a:xfrm>
            <a:off x="914400" y="4000500"/>
            <a:ext cx="1524000" cy="762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/>
        </p:txBody>
      </p:sp>
      <p:sp>
        <p:nvSpPr>
          <p:cNvPr id="3" name="ph3"/>
          <p:cNvSpPr>
            <a:spLocks noGrp="1"/>
          </p:cNvSpPr>
          <p:nvPr>
            <p:ph type="title"/>
          </p:nvPr>
        </p:nvSpPr>
        <p:spPr>
          <a:xfrm>
            <a:off x="914400" y="2667000"/>
            <a:ext cx="9525000" cy="1238250"/>
          </a:xfrm>
          <a:prstGeom prst="rect">
            <a:avLst/>
          </a:prstGeom>
        </p:spPr>
        <p:txBody>
          <a:bodyPr anchor="t"/>
          <a:lstStyle>
            <a:lvl1pPr>
              <a:buNone/>
              <a:defRPr sz="4800">
                <a:solidFill>
                  <a:srgbClr val="FFFFFF"/>
                </a:solidFill>
                <a:latin typeface="Georgia"/>
                <a:cs typeface="Georgia"/>
              </a:defRPr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_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ctrTitle"/>
          </p:nvPr>
        </p:nvSpPr>
        <p:spPr>
          <a:xfrm>
            <a:off x="914400" y="2381250"/>
            <a:ext cx="9525000" cy="1333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5400" b="1" i="0" dirty="0">
                <a:solidFill>
                  <a:srgbClr val="FFFFFF"/>
                </a:solidFill>
                <a:latin typeface="Georgia"/>
                <a:cs typeface="Georgia"/>
              </a:rPr>
              <a:t>Harbourside Night Market</a:t>
            </a:r>
          </a:p>
        </p:txBody>
      </p:sp>
      <p:sp>
        <p:nvSpPr>
          <p:cNvPr id="3" name="text3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9525000" cy="76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400" b="0" i="0" dirty="0">
                <a:solidFill>
                  <a:srgbClr val="F5A623"/>
                </a:solidFill>
                <a:latin typeface="Verdana"/>
                <a:cs typeface="Verdana"/>
              </a:rPr>
              <a:t>Season review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668000" cy="800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600" b="1" i="0" dirty="0">
                <a:solidFill>
                  <a:srgbClr val="4A1D5C"/>
                </a:solidFill>
                <a:latin typeface="Georgia"/>
                <a:cs typeface="Georgia"/>
              </a:rPr>
              <a:t>The season at a glance</a:t>
            </a:r>
          </a:p>
        </p:txBody>
      </p:sp>
      <p:sp>
        <p:nvSpPr>
          <p:cNvPr id="3" name="text3"/>
          <p:cNvSpPr>
            <a:spLocks noGrp="1"/>
          </p:cNvSpPr>
          <p:nvPr>
            <p:ph type="body" idx="1"/>
          </p:nvPr>
        </p:nvSpPr>
        <p:spPr>
          <a:xfrm>
            <a:off x="762000" y="1809750"/>
            <a:ext cx="10668000" cy="409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233"/>
                </a:solidFill>
                <a:latin typeface="Verdana"/>
                <a:cs typeface="Verdana"/>
              </a:rPr>
              <a:t>32 market nights, from the first Friday in May to the last Saturday in September</a:t>
            </a:r>
          </a:p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233"/>
                </a:solidFill>
                <a:latin typeface="Verdana"/>
                <a:cs typeface="Verdana"/>
              </a:rPr>
              <a:t>118 stallholders, 41 of them trading with us for the first time</a:t>
            </a:r>
          </a:p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233"/>
                </a:solidFill>
                <a:latin typeface="Verdana"/>
                <a:cs typeface="Verdana"/>
              </a:rPr>
              <a:t>An average of 2,400 visitors a night, up from 1,900 last season</a:t>
            </a:r>
          </a:p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2000" b="0" i="0" dirty="0">
                <a:solidFill>
                  <a:srgbClr val="2B2233"/>
                </a:solidFill>
                <a:latin typeface="Verdana"/>
                <a:cs typeface="Verdana"/>
              </a:rPr>
              <a:t>Two nights moved under the fish hall roof when storms came in</a:t>
            </a:r>
          </a:p>
        </p:txBody>
      </p:sp>
      <p:sp>
        <p:nvSpPr>
          <p:cNvPr id="4" name="text4"/>
          <p:cNvSpPr>
            <a:spLocks noGrp="1"/>
          </p:cNvSpPr>
          <p:nvPr>
            <p:ph type="sldNum" idx="12"/>
          </p:nvPr>
        </p:nvSpPr>
        <p:spPr>
          <a:xfrm>
            <a:off x="11144250" y="6362700"/>
            <a:ext cx="66675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en-US" sz="1100" b="0" i="0" dirty="0">
                <a:solidFill>
                  <a:srgbClr val="4A1D5C"/>
                </a:solidFill>
                <a:latin typeface="Verdana"/>
                <a:cs typeface="Verdana"/>
              </a:rPr>
              <a:t>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668000" cy="800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600" b="1" i="0" dirty="0">
                <a:solidFill>
                  <a:srgbClr val="4A1D5C"/>
                </a:solidFill>
                <a:latin typeface="Georgia"/>
                <a:cs typeface="Georgia"/>
              </a:rPr>
              <a:t>Three things that worked</a:t>
            </a:r>
          </a:p>
        </p:txBody>
      </p:sp>
      <p:sp>
        <p:nvSpPr>
          <p:cNvPr id="3" name="rect3"/>
          <p:cNvSpPr/>
          <p:nvPr/>
        </p:nvSpPr>
        <p:spPr>
          <a:xfrm>
            <a:off x="762000" y="1905000"/>
            <a:ext cx="3333750" cy="3619500"/>
          </a:xfrm>
          <a:prstGeom prst="roundRect">
            <a:avLst>
              <a:gd name="adj" fmla="val 5143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" name="rect4"/>
          <p:cNvSpPr/>
          <p:nvPr/>
        </p:nvSpPr>
        <p:spPr>
          <a:xfrm>
            <a:off x="762000" y="1905000"/>
            <a:ext cx="3333750" cy="1143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1028700" y="2247900"/>
            <a:ext cx="280035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400" b="1" i="0" dirty="0">
                <a:solidFill>
                  <a:srgbClr val="4A1D5C"/>
                </a:solidFill>
                <a:latin typeface="Georgia"/>
                <a:cs typeface="Georgia"/>
              </a:rPr>
              <a:t>Later closing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1028700" y="2895600"/>
            <a:ext cx="2800350" cy="2381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Stalls stayed open until eleven, and the last hour was the busiest of the night.</a:t>
            </a:r>
          </a:p>
        </p:txBody>
      </p:sp>
      <p:sp>
        <p:nvSpPr>
          <p:cNvPr id="7" name="rect7"/>
          <p:cNvSpPr/>
          <p:nvPr/>
        </p:nvSpPr>
        <p:spPr>
          <a:xfrm>
            <a:off x="4381500" y="1905000"/>
            <a:ext cx="3333750" cy="3619500"/>
          </a:xfrm>
          <a:prstGeom prst="roundRect">
            <a:avLst>
              <a:gd name="adj" fmla="val 5143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8" name="rect8"/>
          <p:cNvSpPr/>
          <p:nvPr/>
        </p:nvSpPr>
        <p:spPr>
          <a:xfrm>
            <a:off x="4381500" y="1905000"/>
            <a:ext cx="3333750" cy="114300"/>
          </a:xfrm>
          <a:prstGeom prst="rect">
            <a:avLst/>
          </a:prstGeom>
          <a:solidFill>
            <a:srgbClr val="1B8A8C"/>
          </a:solidFill>
        </p:spPr>
        <p:txBody>
          <a:bodyPr/>
          <a:lstStyle/>
          <a:p/>
        </p:txBody>
      </p:sp>
      <p:sp>
        <p:nvSpPr>
          <p:cNvPr id="9" name="text9"/>
          <p:cNvSpPr txBox="1"/>
          <p:nvPr/>
        </p:nvSpPr>
        <p:spPr>
          <a:xfrm>
            <a:off x="4648200" y="2247900"/>
            <a:ext cx="280035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400" b="1" i="0" dirty="0">
                <a:solidFill>
                  <a:srgbClr val="4A1D5C"/>
                </a:solidFill>
                <a:latin typeface="Georgia"/>
                <a:cs typeface="Georgia"/>
              </a:rPr>
              <a:t>Local music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4648200" y="2895600"/>
            <a:ext cx="2800350" cy="2381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Eighteen local acts played, every one booked through the community board.</a:t>
            </a:r>
          </a:p>
        </p:txBody>
      </p:sp>
      <p:sp>
        <p:nvSpPr>
          <p:cNvPr id="11" name="rect11"/>
          <p:cNvSpPr/>
          <p:nvPr/>
        </p:nvSpPr>
        <p:spPr>
          <a:xfrm>
            <a:off x="8001000" y="1905000"/>
            <a:ext cx="3333750" cy="3619500"/>
          </a:xfrm>
          <a:prstGeom prst="roundRect">
            <a:avLst>
              <a:gd name="adj" fmla="val 5143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2" name="rect12"/>
          <p:cNvSpPr/>
          <p:nvPr/>
        </p:nvSpPr>
        <p:spPr>
          <a:xfrm>
            <a:off x="8001000" y="1905000"/>
            <a:ext cx="3333750" cy="1143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/>
        </p:txBody>
      </p:sp>
      <p:sp>
        <p:nvSpPr>
          <p:cNvPr id="13" name="text13"/>
          <p:cNvSpPr txBox="1"/>
          <p:nvPr/>
        </p:nvSpPr>
        <p:spPr>
          <a:xfrm>
            <a:off x="8267700" y="2247900"/>
            <a:ext cx="280035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400" b="1" i="0" dirty="0">
                <a:solidFill>
                  <a:srgbClr val="4A1D5C"/>
                </a:solidFill>
                <a:latin typeface="Georgia"/>
                <a:cs typeface="Georgia"/>
              </a:rPr>
              <a:t>Cashless tills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8267700" y="2895600"/>
            <a:ext cx="2800350" cy="2381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Queues moved faster, and stallholders were paid the next morning.</a:t>
            </a:r>
          </a:p>
        </p:txBody>
      </p:sp>
      <p:sp>
        <p:nvSpPr>
          <p:cNvPr id="15" name="text15"/>
          <p:cNvSpPr>
            <a:spLocks noGrp="1"/>
          </p:cNvSpPr>
          <p:nvPr>
            <p:ph type="sldNum" idx="12"/>
          </p:nvPr>
        </p:nvSpPr>
        <p:spPr>
          <a:xfrm>
            <a:off x="11144250" y="6362700"/>
            <a:ext cx="66675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en-US" sz="1100" b="0" i="0" dirty="0">
                <a:solidFill>
                  <a:srgbClr val="4A1D5C"/>
                </a:solidFill>
                <a:latin typeface="Verdana"/>
                <a:cs typeface="Verdana"/>
              </a:rPr>
              <a:t>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668000" cy="800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600" b="1" i="0" dirty="0">
                <a:solidFill>
                  <a:srgbClr val="4A1D5C"/>
                </a:solidFill>
                <a:latin typeface="Georgia"/>
                <a:cs typeface="Georgia"/>
              </a:rPr>
              <a:t>Visitors per night, by month</a:t>
            </a:r>
          </a:p>
        </p:txBody>
      </p:sp>
      <p:sp>
        <p:nvSpPr>
          <p:cNvPr id="3" name="rect3"/>
          <p:cNvSpPr/>
          <p:nvPr/>
        </p:nvSpPr>
        <p:spPr>
          <a:xfrm>
            <a:off x="1524000" y="5619750"/>
            <a:ext cx="7334250" cy="28575"/>
          </a:xfrm>
          <a:prstGeom prst="rect">
            <a:avLst/>
          </a:prstGeom>
          <a:solidFill>
            <a:srgbClr val="2B2233"/>
          </a:solidFill>
        </p:spPr>
        <p:txBody>
          <a:bodyPr/>
          <a:lstStyle/>
          <a:p/>
        </p:txBody>
      </p:sp>
      <p:sp>
        <p:nvSpPr>
          <p:cNvPr id="4" name="rect4"/>
          <p:cNvSpPr/>
          <p:nvPr/>
        </p:nvSpPr>
        <p:spPr>
          <a:xfrm>
            <a:off x="2019300" y="3905250"/>
            <a:ext cx="819150" cy="1714500"/>
          </a:xfrm>
          <a:prstGeom prst="rect">
            <a:avLst/>
          </a:prstGeom>
          <a:solidFill>
            <a:srgbClr val="4A1D5C"/>
          </a:solidFill>
        </p:spPr>
        <p:txBody>
          <a:bodyPr/>
          <a:lstStyle/>
          <a:p/>
        </p:txBody>
      </p:sp>
      <p:sp>
        <p:nvSpPr>
          <p:cNvPr id="5" name="text5"/>
          <p:cNvSpPr txBox="1"/>
          <p:nvPr/>
        </p:nvSpPr>
        <p:spPr>
          <a:xfrm>
            <a:off x="1828800" y="3524250"/>
            <a:ext cx="120015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600" b="1" i="0" dirty="0">
                <a:solidFill>
                  <a:srgbClr val="2B2233"/>
                </a:solidFill>
                <a:latin typeface="Verdana"/>
                <a:cs typeface="Verdana"/>
              </a:rPr>
              <a:t>1,600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1733550" y="5734050"/>
            <a:ext cx="139065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500" b="0" i="0" dirty="0">
                <a:solidFill>
                  <a:srgbClr val="2B2233"/>
                </a:solidFill>
                <a:latin typeface="Verdana"/>
                <a:cs typeface="Verdana"/>
              </a:rPr>
              <a:t>May</a:t>
            </a:r>
          </a:p>
        </p:txBody>
      </p:sp>
      <p:sp>
        <p:nvSpPr>
          <p:cNvPr id="7" name="rect7"/>
          <p:cNvSpPr/>
          <p:nvPr/>
        </p:nvSpPr>
        <p:spPr>
          <a:xfrm>
            <a:off x="3448050" y="3369469"/>
            <a:ext cx="819150" cy="2250281"/>
          </a:xfrm>
          <a:prstGeom prst="rect">
            <a:avLst/>
          </a:prstGeom>
          <a:solidFill>
            <a:srgbClr val="4A1D5C"/>
          </a:solidFill>
        </p:spPr>
        <p:txBody>
          <a:bodyPr/>
          <a:lstStyle/>
          <a:p/>
        </p:txBody>
      </p:sp>
      <p:sp>
        <p:nvSpPr>
          <p:cNvPr id="8" name="text8"/>
          <p:cNvSpPr txBox="1"/>
          <p:nvPr/>
        </p:nvSpPr>
        <p:spPr>
          <a:xfrm>
            <a:off x="3257550" y="2988469"/>
            <a:ext cx="120015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600" b="1" i="0" dirty="0">
                <a:solidFill>
                  <a:srgbClr val="2B2233"/>
                </a:solidFill>
                <a:latin typeface="Verdana"/>
                <a:cs typeface="Verdana"/>
              </a:rPr>
              <a:t>2,100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3162300" y="5734050"/>
            <a:ext cx="139065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500" b="0" i="0" dirty="0">
                <a:solidFill>
                  <a:srgbClr val="2B2233"/>
                </a:solidFill>
                <a:latin typeface="Verdana"/>
                <a:cs typeface="Verdana"/>
              </a:rPr>
              <a:t>June</a:t>
            </a:r>
          </a:p>
        </p:txBody>
      </p:sp>
      <p:sp>
        <p:nvSpPr>
          <p:cNvPr id="10" name="rect10"/>
          <p:cNvSpPr/>
          <p:nvPr/>
        </p:nvSpPr>
        <p:spPr>
          <a:xfrm>
            <a:off x="4876800" y="2512219"/>
            <a:ext cx="819150" cy="3107531"/>
          </a:xfrm>
          <a:prstGeom prst="rect">
            <a:avLst/>
          </a:prstGeom>
          <a:solidFill>
            <a:srgbClr val="4A1D5C"/>
          </a:solidFill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4686300" y="2131219"/>
            <a:ext cx="120015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600" b="1" i="0" dirty="0">
                <a:solidFill>
                  <a:srgbClr val="2B2233"/>
                </a:solidFill>
                <a:latin typeface="Verdana"/>
                <a:cs typeface="Verdana"/>
              </a:rPr>
              <a:t>2,900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591050" y="5734050"/>
            <a:ext cx="139065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500" b="0" i="0" dirty="0">
                <a:solidFill>
                  <a:srgbClr val="2B2233"/>
                </a:solidFill>
                <a:latin typeface="Verdana"/>
                <a:cs typeface="Verdana"/>
              </a:rPr>
              <a:t>July</a:t>
            </a:r>
          </a:p>
        </p:txBody>
      </p:sp>
      <p:sp>
        <p:nvSpPr>
          <p:cNvPr id="13" name="rect13"/>
          <p:cNvSpPr/>
          <p:nvPr/>
        </p:nvSpPr>
        <p:spPr>
          <a:xfrm>
            <a:off x="6305550" y="2297906"/>
            <a:ext cx="819150" cy="3321844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/>
        </p:txBody>
      </p:sp>
      <p:sp>
        <p:nvSpPr>
          <p:cNvPr id="14" name="text14"/>
          <p:cNvSpPr txBox="1"/>
          <p:nvPr/>
        </p:nvSpPr>
        <p:spPr>
          <a:xfrm>
            <a:off x="6115050" y="1916906"/>
            <a:ext cx="120015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600" b="1" i="0" dirty="0">
                <a:solidFill>
                  <a:srgbClr val="2B2233"/>
                </a:solidFill>
                <a:latin typeface="Verdana"/>
                <a:cs typeface="Verdana"/>
              </a:rPr>
              <a:t>3,100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6019800" y="5734050"/>
            <a:ext cx="139065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500" b="0" i="0" dirty="0">
                <a:solidFill>
                  <a:srgbClr val="2B2233"/>
                </a:solidFill>
                <a:latin typeface="Verdana"/>
                <a:cs typeface="Verdana"/>
              </a:rPr>
              <a:t>August</a:t>
            </a:r>
          </a:p>
        </p:txBody>
      </p:sp>
      <p:sp>
        <p:nvSpPr>
          <p:cNvPr id="16" name="rect16"/>
          <p:cNvSpPr/>
          <p:nvPr/>
        </p:nvSpPr>
        <p:spPr>
          <a:xfrm>
            <a:off x="7734300" y="3155156"/>
            <a:ext cx="819150" cy="2464594"/>
          </a:xfrm>
          <a:prstGeom prst="rect">
            <a:avLst/>
          </a:prstGeom>
          <a:solidFill>
            <a:srgbClr val="4A1D5C"/>
          </a:solidFill>
        </p:spPr>
        <p:txBody>
          <a:bodyPr/>
          <a:lstStyle/>
          <a:p/>
        </p:txBody>
      </p:sp>
      <p:sp>
        <p:nvSpPr>
          <p:cNvPr id="17" name="text17"/>
          <p:cNvSpPr txBox="1"/>
          <p:nvPr/>
        </p:nvSpPr>
        <p:spPr>
          <a:xfrm>
            <a:off x="7543800" y="2774156"/>
            <a:ext cx="1200150" cy="304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600" b="1" i="0" dirty="0">
                <a:solidFill>
                  <a:srgbClr val="2B2233"/>
                </a:solidFill>
                <a:latin typeface="Verdana"/>
                <a:cs typeface="Verdana"/>
              </a:rPr>
              <a:t>2,300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448550" y="5734050"/>
            <a:ext cx="1390650" cy="285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en-US" sz="1500" b="0" i="0" dirty="0">
                <a:solidFill>
                  <a:srgbClr val="2B2233"/>
                </a:solidFill>
                <a:latin typeface="Verdana"/>
                <a:cs typeface="Verdana"/>
              </a:rPr>
              <a:t>September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9144000" y="2381250"/>
            <a:ext cx="2476500" cy="1905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b="0" i="1" dirty="0">
                <a:solidFill>
                  <a:srgbClr val="2B2233"/>
                </a:solidFill>
                <a:latin typeface="Verdana"/>
                <a:cs typeface="Verdana"/>
              </a:rPr>
              <a:t>August was our best month yet, with the harbour festival on the first weekend.</a:t>
            </a:r>
          </a:p>
        </p:txBody>
      </p:sp>
      <p:sp>
        <p:nvSpPr>
          <p:cNvPr id="20" name="text20"/>
          <p:cNvSpPr>
            <a:spLocks noGrp="1"/>
          </p:cNvSpPr>
          <p:nvPr>
            <p:ph type="sldNum" idx="12"/>
          </p:nvPr>
        </p:nvSpPr>
        <p:spPr>
          <a:xfrm>
            <a:off x="11144250" y="6362700"/>
            <a:ext cx="66675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en-US" sz="1100" b="0" i="0" dirty="0">
                <a:solidFill>
                  <a:srgbClr val="4A1D5C"/>
                </a:solidFill>
                <a:latin typeface="Verdana"/>
                <a:cs typeface="Verdana"/>
              </a:rPr>
              <a:t>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668000" cy="800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600" b="1" i="0" dirty="0">
                <a:solidFill>
                  <a:srgbClr val="4A1D5C"/>
                </a:solidFill>
                <a:latin typeface="Georgia"/>
                <a:cs typeface="Georgia"/>
              </a:rPr>
              <a:t>Lanterns on the pier</a:t>
            </a:r>
          </a:p>
        </p:txBody>
      </p:sp>
      <p:pic>
        <p:nvPicPr>
          <p:cNvPr id="3" name="Harbour at du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09750"/>
            <a:ext cx="7239000" cy="4076700"/>
          </a:xfrm>
          <a:prstGeom prst="rect">
            <a:avLst/>
          </a:prstGeom>
        </p:spPr>
      </p:pic>
      <p:sp>
        <p:nvSpPr>
          <p:cNvPr id="4" name="text4"/>
          <p:cNvSpPr txBox="1"/>
          <p:nvPr/>
        </p:nvSpPr>
        <p:spPr>
          <a:xfrm>
            <a:off x="8382000" y="1905000"/>
            <a:ext cx="3048000" cy="3810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US" sz="2000" b="0" i="0" dirty="0">
                <a:solidFill>
                  <a:srgbClr val="2B2233"/>
                </a:solidFill>
                <a:latin typeface="Verdana"/>
                <a:cs typeface="Verdana"/>
              </a:rPr>
              <a:t>The lanterns went up along the pier for the first time this year.</a:t>
            </a:r>
          </a:p>
          <a:p>
            <a:pPr>
              <a:lnSpc>
                <a:spcPct val="125000"/>
              </a:lnSpc>
            </a:pPr>
            <a:r>
              <a:rPr lang="en-US" sz="1600" b="0" i="0" dirty="0">
                <a:solidFill>
                  <a:srgbClr val="1B8A8C"/>
                </a:solidFill>
                <a:latin typeface="Verdana"/>
                <a:cs typeface="Verdana"/>
              </a:rPr>
              <a:t>Volunteers from the rowing club strung all 300 of them in one afternoon.</a:t>
            </a:r>
          </a:p>
        </p:txBody>
      </p:sp>
      <p:sp>
        <p:nvSpPr>
          <p:cNvPr id="5" name="text5"/>
          <p:cNvSpPr>
            <a:spLocks noGrp="1"/>
          </p:cNvSpPr>
          <p:nvPr>
            <p:ph type="sldNum" idx="12"/>
          </p:nvPr>
        </p:nvSpPr>
        <p:spPr>
          <a:xfrm>
            <a:off x="11144250" y="6362700"/>
            <a:ext cx="66675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en-US" sz="1100" b="0" i="0" dirty="0">
                <a:solidFill>
                  <a:srgbClr val="4A1D5C"/>
                </a:solidFill>
                <a:latin typeface="Verdana"/>
                <a:cs typeface="Verdana"/>
              </a:rPr>
              <a:t>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668000" cy="800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600" b="1" i="0" dirty="0">
                <a:solidFill>
                  <a:srgbClr val="4A1D5C"/>
                </a:solidFill>
                <a:latin typeface="Georgia"/>
                <a:cs typeface="Georgia"/>
              </a:rPr>
              <a:t>Stallholders by category</a:t>
            </a:r>
          </a:p>
        </p:txBody>
      </p:sp>
      <p:graphicFrame>
        <p:nvGraphicFramePr>
          <p:cNvPr id="3" name="table3"/>
          <p:cNvGraphicFramePr>
            <a:graphicFrameLocks noGrp="1"/>
          </p:cNvGraphicFramePr>
          <p:nvPr/>
        </p:nvGraphicFramePr>
        <p:xfrm>
          <a:off x="762000" y="1905000"/>
          <a:ext cx="85725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0"/>
                <a:gridCol w="2095500"/>
                <a:gridCol w="20955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solidFill>
                      <a:srgbClr val="4A1D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Stalls</a:t>
                      </a:r>
                    </a:p>
                  </a:txBody>
                  <a:tcPr marL="91440" marR="91440" marT="45720" marB="45720" anchor="ctr">
                    <a:solidFill>
                      <a:srgbClr val="4A1D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i="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New this season</a:t>
                      </a:r>
                    </a:p>
                  </a:txBody>
                  <a:tcPr marL="91440" marR="91440" marT="45720" marB="45720" anchor="ctr">
                    <a:solidFill>
                      <a:srgbClr val="4A1D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Street food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Crafts and makers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Drinks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Music and games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0" i="0" dirty="0">
                          <a:solidFill>
                            <a:srgbClr val="2B2233"/>
                          </a:solidFill>
                          <a:latin typeface="Verdana"/>
                          <a:cs typeface="Verdana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4"/>
          <p:cNvSpPr>
            <a:spLocks noGrp="1"/>
          </p:cNvSpPr>
          <p:nvPr>
            <p:ph type="sldNum" idx="12"/>
          </p:nvPr>
        </p:nvSpPr>
        <p:spPr>
          <a:xfrm>
            <a:off x="11144250" y="6362700"/>
            <a:ext cx="66675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en-US" sz="1100" b="0" i="0" dirty="0">
                <a:solidFill>
                  <a:srgbClr val="4A1D5C"/>
                </a:solidFill>
                <a:latin typeface="Verdana"/>
                <a:cs typeface="Verdana"/>
              </a:rPr>
              <a:t>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914400" y="2667000"/>
            <a:ext cx="9525000" cy="1238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4800" b="1" i="0" dirty="0">
                <a:solidFill>
                  <a:srgbClr val="FFFFFF"/>
                </a:solidFill>
                <a:latin typeface="Georgia"/>
                <a:cs typeface="Georgia"/>
              </a:rPr>
              <a:t>Next season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668000" cy="8001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3600" b="1" i="0" dirty="0">
                <a:solidFill>
                  <a:srgbClr val="4A1D5C"/>
                </a:solidFill>
                <a:latin typeface="Georgia"/>
                <a:cs typeface="Georgia"/>
              </a:rPr>
              <a:t>Plans for next season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1866900"/>
            <a:ext cx="5143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400" b="1" i="0" dirty="0">
                <a:solidFill>
                  <a:srgbClr val="1B8A8C"/>
                </a:solidFill>
                <a:latin typeface="Georgia"/>
                <a:cs typeface="Georgia"/>
              </a:rPr>
              <a:t>Keep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62000" y="2438400"/>
            <a:ext cx="5143500" cy="3429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Friday and Saturday nights</a:t>
            </a:r>
          </a:p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Lanterns on the pier</a:t>
            </a:r>
          </a:p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Local acts on the bandstand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6286500" y="1866900"/>
            <a:ext cx="5143500" cy="4762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2400" b="1" i="0" dirty="0">
                <a:solidFill>
                  <a:srgbClr val="1B8A8C"/>
                </a:solidFill>
                <a:latin typeface="Georgia"/>
                <a:cs typeface="Georgia"/>
              </a:rPr>
              <a:t>Change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6286500" y="2438400"/>
            <a:ext cx="5143500" cy="3429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A covered area for rainy nights</a:t>
            </a:r>
          </a:p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Fewer plastic cups, more returnable ones</a:t>
            </a:r>
          </a:p>
          <a:p>
            <a:pPr marL="342900" indent="-342900">
              <a:spcAft>
                <a:spcPts val="1000"/>
              </a:spcAft>
              <a:buClr>
                <a:srgbClr val="F5A623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B2233"/>
                </a:solidFill>
                <a:latin typeface="Verdana"/>
                <a:cs typeface="Verdana"/>
              </a:rPr>
              <a:t>A quiet hour for families at six</a:t>
            </a:r>
          </a:p>
        </p:txBody>
      </p:sp>
      <p:sp>
        <p:nvSpPr>
          <p:cNvPr id="7" name="text7"/>
          <p:cNvSpPr>
            <a:spLocks noGrp="1"/>
          </p:cNvSpPr>
          <p:nvPr>
            <p:ph type="sldNum" idx="12"/>
          </p:nvPr>
        </p:nvSpPr>
        <p:spPr>
          <a:xfrm>
            <a:off x="11144250" y="6362700"/>
            <a:ext cx="666750" cy="2667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/>
            <a:r>
              <a:rPr lang="en-US" sz="1100" b="0" i="0" dirty="0">
                <a:solidFill>
                  <a:srgbClr val="4A1D5C"/>
                </a:solidFill>
                <a:latin typeface="Verdana"/>
                <a:cs typeface="Verdana"/>
              </a:rPr>
              <a:t>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ctrTitle"/>
          </p:nvPr>
        </p:nvSpPr>
        <p:spPr>
          <a:xfrm>
            <a:off x="914400" y="2381250"/>
            <a:ext cx="9525000" cy="1333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5400" b="1" i="0" dirty="0">
                <a:solidFill>
                  <a:srgbClr val="FFFFFF"/>
                </a:solidFill>
                <a:latin typeface="Georgia"/>
                <a:cs typeface="Georgia"/>
              </a:rPr>
              <a:t>Thank you</a:t>
            </a:r>
          </a:p>
        </p:txBody>
      </p:sp>
      <p:sp>
        <p:nvSpPr>
          <p:cNvPr id="3" name="text3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9525000" cy="76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400" b="0" i="0" dirty="0">
                <a:solidFill>
                  <a:srgbClr val="F5A623"/>
                </a:solidFill>
                <a:latin typeface="Verdana"/>
                <a:cs typeface="Verdana"/>
              </a:rPr>
              <a:t>hello@harbourside-market.example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Harbourside">
  <a:themeElements>
    <a:clrScheme name="Harbourside">
      <a:dk1>
        <a:srgbClr val="2B2233"/>
      </a:dk1>
      <a:lt1>
        <a:srgbClr val="FFFFFF"/>
      </a:lt1>
      <a:dk2>
        <a:srgbClr val="4A1D5C"/>
      </a:dk2>
      <a:lt2>
        <a:srgbClr val="FFF8EC"/>
      </a:lt2>
      <a:accent1>
        <a:srgbClr val="4A1D5C"/>
      </a:accent1>
      <a:accent2>
        <a:srgbClr val="F5A623"/>
      </a:accent2>
      <a:accent3>
        <a:srgbClr val="1B8A8C"/>
      </a:accent3>
      <a:accent4>
        <a:srgbClr val="C2436B"/>
      </a:accent4>
      <a:accent5>
        <a:srgbClr val="6C9A3B"/>
      </a:accent5>
      <a:accent6>
        <a:srgbClr val="8C6D4F"/>
      </a:accent6>
      <a:hlink>
        <a:srgbClr val="336699"/>
      </a:hlink>
      <a:folHlink>
        <a:srgbClr val="6B7280"/>
      </a:folHlink>
    </a:clrScheme>
    <a:fontScheme name="Harbourside">
      <a:majorFont>
        <a:latin typeface="Georgia"/>
        <a:ea typeface="Georgia"/>
        <a:cs typeface="Georgia"/>
      </a:majorFont>
      <a:minorFont>
        <a:latin typeface="Verdana"/>
        <a:ea typeface="Verdana"/>
        <a:cs typeface="Verdana"/>
      </a:minorFont>
    </a:fontScheme>
    <a:fmtScheme name="Harboursi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9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Harbourside Night Market: season review 2025</dc:title>
  <dc:creator>Harbourside Night Market</dc:creator>
  <cp:lastModifiedBy>Harbourside Night Market</cp:lastModifiedBy>
  <dcterms:created xsi:type="dcterms:W3CDTF">2026-01-01T00:00:00Z</dcterms:created>
  <dcterms:modified xsi:type="dcterms:W3CDTF">2026-01-01T00:00:00Z</dcterms:modified>
</cp:coreProperties>
</file>