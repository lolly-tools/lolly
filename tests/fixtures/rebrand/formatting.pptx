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3" name="ph3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</p:spPr>
        <p:txBody>
          <a:bodyPr anchor="t"/>
          <a:lstStyle>
            <a:lvl1pPr>
              <a:defRPr sz="1800"/>
            </a:lvl1pPr>
          </a:lstStyle>
          <a:p/>
        </p:txBody>
      </p:sp>
      <p:sp>
        <p:nvSpPr>
          <p:cNvPr id="4" name="ph4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 marL="342900" indent="-342900">
        <a:buFont typeface="Arial"/>
        <a:buChar char="•"/>
        <a:defRPr sz="1800">
          <a:solidFill>
            <a:schemeClr val="tx1"/>
          </a:solidFill>
          <a:latin typeface="+mn-lt"/>
        </a:defRPr>
      </a:lvl1pPr>
      <a:lvl2pPr marL="742950" indent="-285750">
        <a:buFont typeface="Arial"/>
        <a:buChar char="–"/>
        <a:defRPr sz="1600">
          <a:solidFill>
            <a:schemeClr val="tx1"/>
          </a:solidFill>
          <a:latin typeface="+mn-lt"/>
        </a:defRPr>
      </a:lvl2pPr>
      <a:lvl3pPr marL="1143000" indent="-228600">
        <a:buFont typeface="Arial"/>
        <a:buChar char="›"/>
        <a:defRPr sz="1400">
          <a:solidFill>
            <a:schemeClr val="tx1"/>
          </a:solidFill>
          <a:latin typeface="+mn-lt"/>
        </a:defRPr>
      </a:lvl3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olly.tools/" TargetMode="Externa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/>
              <a:t>Quarterly review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/>
              <a:t>Inherits its bullet from the master</a:t>
            </a:r>
          </a:p>
          <a:p>
            <a:r>
              <a:rPr lang="en-US" sz="2000"/>
              <a:t>So does this line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/>
              <a:t>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3600"/>
              <a:t>Plain </a:t>
            </a:r>
            <a:r>
              <a:rPr lang="en-US" sz="3600" b="1"/>
              <a:t>Bold</a:t>
            </a:r>
            <a:r>
              <a:rPr lang="en-US" sz="3600" i="1"/>
              <a:t> Italic</a:t>
            </a:r>
            <a:r>
              <a:rPr lang="en-US" sz="3600" u="sng"/>
              <a:t> Under</a:t>
            </a:r>
            <a:r>
              <a:rPr lang="en-US" sz="3600" strike="sngStrike"/>
              <a:t> Strike</a:t>
            </a:r>
            <a:r>
              <a:rPr lang="en-US" sz="3600">
                <a:solidFill>
                  <a:srgbClr val="C00000"/>
                </a:solidFill>
              </a:rPr>
              <a:t> Red</a:t>
            </a:r>
            <a:r>
              <a:rPr lang="en-US" sz="2000"/>
              <a:t> Small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Char char="•"/>
            </a:pPr>
            <a:r>
              <a:rPr lang="en-US" sz="2000"/>
              <a:t>First bullet with </a:t>
            </a:r>
            <a:r>
              <a:rPr lang="en-US" sz="2000" b="1"/>
              <a:t>bold</a:t>
            </a:r>
            <a:r>
              <a:rPr lang="en-US" sz="2000"/>
              <a:t> inside</a:t>
            </a:r>
          </a:p>
          <a:p>
            <a:pPr marL="742950" lvl="1" indent="-285750">
              <a:buChar char="–"/>
            </a:pPr>
            <a:r>
              <a:rPr lang="en-US" sz="1800"/>
              <a:t>Nested second level</a:t>
            </a:r>
          </a:p>
          <a:p>
            <a:pPr marL="342900" indent="-342900">
              <a:buAutoNum type="arabicPeriod"/>
            </a:pPr>
            <a:r>
              <a:rPr lang="en-US" sz="2000"/>
              <a:t>Numbered one</a:t>
            </a:r>
          </a:p>
          <a:p>
            <a:pPr marL="342900" indent="-342900">
              <a:buAutoNum type="arabicPeriod"/>
            </a:pPr>
            <a:r>
              <a:rPr lang="en-US" sz="2000"/>
              <a:t>Numbered two</a:t>
            </a:r>
          </a:p>
          <a:p>
            <a:pPr algn="r">
              <a:buNone/>
            </a:pPr>
            <a:r>
              <a:rPr lang="en-US" sz="2000"/>
              <a:t>Right aligned no bullet </a:t>
            </a:r>
            <a:r>
              <a:rPr lang="en-US" sz="2000"/>
              <a:t>E=mc</a:t>
            </a:r>
            <a:r>
              <a:rPr lang="en-US" sz="2000" baseline="30000"/>
              <a:t>2</a:t>
            </a:r>
            <a:r>
              <a:rPr lang="en-US" sz="2000"/>
              <a:t> H</a:t>
            </a:r>
            <a:r>
              <a:rPr lang="en-US" sz="2000" baseline="-25000"/>
              <a:t>2</a:t>
            </a:r>
            <a:r>
              <a:rPr lang="en-US" sz="2000"/>
              <a:t>O </a:t>
            </a:r>
            <a:r>
              <a:rPr lang="en-US" sz="2000" cap="all"/>
              <a:t>caps</a:t>
            </a:r>
          </a:p>
          <a:p>
            <a:pPr algn="just">
              <a:buNone/>
            </a:pPr>
            <a:r>
              <a:rPr lang="en-US" sz="2000"/>
              <a:t>Visit </a:t>
            </a:r>
            <a:r>
              <a:rPr lang="en-US" sz="2000" u="sng">
                <a:hlinkClick xmlns:r="http://schemas.openxmlformats.org/officeDocument/2006/relationships" r:id="rId2"/>
              </a:rPr>
              <a:t>lolly.tools</a:t>
            </a:r>
            <a:r>
              <a:rPr lang="en-US" sz="2000"/>
              <a:t> for more, in </a:t>
            </a:r>
            <a:r>
              <a:rPr lang="en-US" sz="2000">
                <a:latin typeface="Georgia"/>
              </a:rPr>
              <a:t>Georgia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/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/>
              <a:t>Lists through the cascade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1"/>
              <a:t>Scope:</a:t>
            </a:r>
            <a:r>
              <a:rPr lang="en-US" sz="2000"/>
              <a:t> what the renovation changes</a:t>
            </a:r>
          </a:p>
          <a:p>
            <a:r>
              <a:rPr lang="en-US" sz="2000" b="1"/>
              <a:t>Owner:</a:t>
            </a:r>
            <a:r>
              <a:rPr lang="en-US" sz="2000"/>
              <a:t> the team that holds the design system</a:t>
            </a:r>
          </a:p>
          <a:p>
            <a:pPr lvl="1"/>
            <a:r>
              <a:rPr lang="en-US" sz="1800"/>
              <a:t>Second level from the master</a:t>
            </a:r>
          </a:p>
          <a:p>
            <a:pPr lvl="2"/>
            <a:r>
              <a:rPr lang="en-US" sz="1600"/>
              <a:t>Third level from the master</a:t>
            </a:r>
          </a:p>
          <a:p>
            <a:pPr>
              <a:buNone/>
            </a:pPr>
            <a:r>
              <a:rPr lang="en-US" sz="1400" i="1"/>
              <a:t>Source: annual survey, page 12</a:t>
            </a:r>
          </a:p>
          <a:p>
            <a:pPr marL="342900" indent="-342900">
              <a:buAutoNum type="arabicPeriod"/>
            </a:pPr>
            <a:r>
              <a:rPr lang="en-US" sz="2000"/>
              <a:t>Agree the scope</a:t>
            </a:r>
          </a:p>
          <a:p>
            <a:pPr marL="342900" indent="-342900">
              <a:buAutoNum type="arabicPeriod"/>
            </a:pPr>
            <a:r>
              <a:rPr lang="en-US" sz="2000"/>
              <a:t>Review every slide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/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3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formatting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