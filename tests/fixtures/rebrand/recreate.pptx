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6096000"/>
            <a:ext cx="5486400" cy="4876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OPENING</a:t>
            </a:r>
            <a:br>
              <a:rPr lang="en-GB" dirty="0"/>
            </a:br>
            <a:r>
              <a:rPr lang="en-GB" dirty="0"/>
              <a:t>Welcome the room and name the harbour.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TIMING</a:t>
            </a:r>
            <a:br>
              <a:rPr lang="en-GB" dirty="0"/>
            </a:br>
            <a:r>
              <a:rPr lang="en-GB" dirty="0"/>
              <a:t>Two minutes, then the questions.</a:t>
            </a:r>
          </a:p>
          <a:p>
            <a:r>
              <a:rPr lang="en-GB" dirty="0"/>
              <a:t>Photo: a generated picture, free to reuse.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three questions, then move 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SAY</a:t>
            </a:r>
            <a:br>
              <a:rPr lang="en-GB" dirty="0"/>
            </a:br>
            <a:r>
              <a:rPr lang="en-GB" dirty="0"/>
              <a:t>The window is shorter than the chart suggests.</a:t>
            </a:r>
            <a:br>
              <a:rPr lang="en-GB" dirty="0"/>
            </a:br>
            <a:r>
              <a:rPr lang="en-GB" dirty="0"/>
              <a:t>ASK</a:t>
            </a:r>
            <a:br>
              <a:rPr lang="en-GB" dirty="0"/>
            </a:br>
            <a:r>
              <a:rPr lang="en-GB" dirty="0"/>
              <a:t>Who checked the timetable this morning?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one land. Count to three.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row, not all twelve cells.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crews by name.</a:t>
            </a:r>
            <a:br>
              <a:rPr lang="en-US" dirty="0"/>
            </a:br>
            <a:r>
              <a:rPr lang="en-US" dirty="0"/>
              <a:t>Point to the shared tide table.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3" name="ph3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</p:spPr>
        <p:txBody>
          <a:bodyPr anchor="t"/>
          <a:lstStyle>
            <a:lvl1pPr>
              <a:defRPr sz="1800"/>
            </a:lvl1pPr>
          </a:lstStyle>
          <a:p/>
        </p:txBody>
      </p:sp>
      <p:sp>
        <p:nvSpPr>
          <p:cNvPr id="4" name="ph4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e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4095750"/>
            <a:ext cx="85725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000" b="1" i="0" dirty="0">
                <a:solidFill>
                  <a:srgbClr val="FFFFFF"/>
                </a:solidFill>
              </a:rPr>
              <a:t>Harbour lights: planning for the tide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5334000"/>
            <a:ext cx="5715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1" i="0" dirty="0">
                <a:solidFill>
                  <a:srgbClr val="FFFFFF"/>
                </a:solidFill>
              </a:rPr>
              <a:t>Robin Vale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62000" y="5715000"/>
            <a:ext cx="57150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>
                <a:solidFill>
                  <a:srgbClr val="FFFFFF"/>
                </a:solidFill>
              </a:rPr>
              <a:t>Tidal operations, Port of Example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Three questions for today</a:t>
            </a:r>
          </a:p>
        </p:txBody>
      </p:sp>
      <p:sp>
        <p:nvSpPr>
          <p:cNvPr id="3" name="rect3"/>
          <p:cNvSpPr/>
          <p:nvPr/>
        </p:nvSpPr>
        <p:spPr>
          <a:xfrm>
            <a:off x="762000" y="1905000"/>
            <a:ext cx="3352800" cy="3048000"/>
          </a:xfrm>
          <a:prstGeom prst="roundRect">
            <a:avLst>
              <a:gd name="adj" fmla="val 5625"/>
            </a:avLst>
          </a:prstGeom>
          <a:solidFill>
            <a:srgbClr val="F2F3F5"/>
          </a:solidFill>
        </p:spPr>
        <p:txBody>
          <a:bodyPr/>
          <a:lstStyle/>
          <a:p/>
        </p:txBody>
      </p:sp>
      <p:sp>
        <p:nvSpPr>
          <p:cNvPr id="4" name="rect4"/>
          <p:cNvSpPr/>
          <p:nvPr/>
        </p:nvSpPr>
        <p:spPr>
          <a:xfrm>
            <a:off x="762000" y="1905000"/>
            <a:ext cx="3352800" cy="762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1047750" y="2247900"/>
            <a:ext cx="11430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800" b="1" i="0" dirty="0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047750" y="2857500"/>
            <a:ext cx="28575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When does the window open?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1047750" y="3810000"/>
            <a:ext cx="28575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Reading the timetable together.</a:t>
            </a:r>
          </a:p>
        </p:txBody>
      </p:sp>
      <p:sp>
        <p:nvSpPr>
          <p:cNvPr id="8" name="rect8"/>
          <p:cNvSpPr/>
          <p:nvPr/>
        </p:nvSpPr>
        <p:spPr>
          <a:xfrm>
            <a:off x="4419600" y="1905000"/>
            <a:ext cx="3352800" cy="3048000"/>
          </a:xfrm>
          <a:prstGeom prst="roundRect">
            <a:avLst>
              <a:gd name="adj" fmla="val 5625"/>
            </a:avLst>
          </a:prstGeom>
          <a:solidFill>
            <a:srgbClr val="F2F3F5"/>
          </a:solidFill>
        </p:spPr>
        <p:txBody>
          <a:bodyPr/>
          <a:lstStyle/>
          <a:p/>
        </p:txBody>
      </p:sp>
      <p:sp>
        <p:nvSpPr>
          <p:cNvPr id="9" name="rect9"/>
          <p:cNvSpPr/>
          <p:nvPr/>
        </p:nvSpPr>
        <p:spPr>
          <a:xfrm>
            <a:off x="4419600" y="1905000"/>
            <a:ext cx="3352800" cy="76200"/>
          </a:xfrm>
          <a:prstGeom prst="rect">
            <a:avLst/>
          </a:prstGeom>
          <a:solidFill>
            <a:srgbClr val="2E86C1"/>
          </a:solidFill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4705350" y="2247900"/>
            <a:ext cx="11430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800" b="1" i="0" dirty="0">
                <a:solidFill>
                  <a:srgbClr val="2E86C1"/>
                </a:solidFill>
              </a:rPr>
              <a:t>02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4705350" y="2857500"/>
            <a:ext cx="28575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Who moves first?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705350" y="3810000"/>
            <a:ext cx="28575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Pilots, tugs and the quay crew.</a:t>
            </a:r>
          </a:p>
        </p:txBody>
      </p:sp>
      <p:sp>
        <p:nvSpPr>
          <p:cNvPr id="13" name="rect13"/>
          <p:cNvSpPr/>
          <p:nvPr/>
        </p:nvSpPr>
        <p:spPr>
          <a:xfrm>
            <a:off x="8077200" y="1905000"/>
            <a:ext cx="3352800" cy="3048000"/>
          </a:xfrm>
          <a:prstGeom prst="roundRect">
            <a:avLst>
              <a:gd name="adj" fmla="val 5625"/>
            </a:avLst>
          </a:prstGeom>
          <a:solidFill>
            <a:srgbClr val="F2F3F5"/>
          </a:solidFill>
        </p:spPr>
        <p:txBody>
          <a:bodyPr/>
          <a:lstStyle/>
          <a:p/>
        </p:txBody>
      </p:sp>
      <p:sp>
        <p:nvSpPr>
          <p:cNvPr id="14" name="rect14"/>
          <p:cNvSpPr/>
          <p:nvPr/>
        </p:nvSpPr>
        <p:spPr>
          <a:xfrm>
            <a:off x="8077200" y="1905000"/>
            <a:ext cx="3352800" cy="7620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8362950" y="2247900"/>
            <a:ext cx="11430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800" b="1" i="0" dirty="0">
                <a:solidFill>
                  <a:srgbClr val="27AE60"/>
                </a:solidFill>
              </a:rPr>
              <a:t>03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8362950" y="2857500"/>
            <a:ext cx="28575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What do we change?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362950" y="3810000"/>
            <a:ext cx="28575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Two habits to start on Monday.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 txBox="1"/>
          <p:nvPr/>
        </p:nvSpPr>
        <p:spPr>
          <a:xfrm>
            <a:off x="762000" y="762000"/>
            <a:ext cx="571500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1" i="0" dirty="0"/>
              <a:t>WHY TIDES MATTER</a:t>
            </a:r>
          </a:p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Every crossing starts with a timetable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476500"/>
            <a:ext cx="66675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The window opens twice a day and closes faster than it looks.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What changes on the quay</a:t>
            </a:r>
          </a:p>
        </p:txBody>
      </p:sp>
      <p:sp>
        <p:nvSpPr>
          <p:cNvPr id="3" name="text3"/>
          <p:cNvSpPr>
            <a:spLocks noGrp="1"/>
          </p:cNvSpPr>
          <p:nvPr>
            <p:ph type="body" idx="1"/>
          </p:nvPr>
        </p:nvSpPr>
        <p:spPr>
          <a:xfrm>
            <a:off x="762000" y="1905000"/>
            <a:ext cx="10668000" cy="3429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0" i="0" dirty="0"/>
              <a:t>One shared tide table for every crew</a:t>
            </a:r>
          </a:p>
          <a:p>
            <a:pPr marL="342900" indent="-342900">
              <a:buFont typeface="Arial"/>
              <a:buChar char="•"/>
            </a:pPr>
            <a:r>
              <a:rPr lang="en-US" sz="2400" b="0" i="0" dirty="0"/>
              <a:t>Pilot boarding moves to the outer mark</a:t>
            </a:r>
          </a:p>
          <a:p>
            <a:pPr marL="342900" indent="-342900">
              <a:buFont typeface="Arial"/>
              <a:buChar char="•"/>
            </a:pPr>
            <a:r>
              <a:rPr lang="en-US" sz="2400" b="0" i="0" dirty="0"/>
              <a:t>Tugs wait at the south berth, clear of the channel</a:t>
            </a:r>
          </a:p>
          <a:p>
            <a:pPr marL="342900" indent="-342900">
              <a:buFont typeface="Arial"/>
              <a:buChar char="•"/>
            </a:pPr>
            <a:r>
              <a:rPr lang="en-US" sz="2400" b="0" i="0" dirty="0"/>
              <a:t>A ten-minute call before each high water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1333500" y="2762250"/>
            <a:ext cx="9525000" cy="1333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4400" b="0" i="0" dirty="0"/>
              <a:t>The tide does not wait for the agenda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quay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3"/>
          <p:cNvSpPr txBox="1"/>
          <p:nvPr/>
        </p:nvSpPr>
        <p:spPr>
          <a:xfrm>
            <a:off x="762000" y="6096000"/>
            <a:ext cx="76200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400" b="0" i="0" dirty="0">
                <a:solidFill>
                  <a:srgbClr val="FFFFFF"/>
                </a:solidFill>
              </a:rPr>
              <a:t>Low water at the north quay, early morning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Who holds each stage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2476500" y="1428750"/>
            <a:ext cx="20955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Plan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4762500" y="1428750"/>
            <a:ext cx="20955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Board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048500" y="1428750"/>
            <a:ext cx="20955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Berth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334500" y="1428750"/>
            <a:ext cx="20955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Depart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762000" y="2047875"/>
            <a:ext cx="1524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Pilots</a:t>
            </a:r>
          </a:p>
        </p:txBody>
      </p:sp>
      <p:sp>
        <p:nvSpPr>
          <p:cNvPr id="8" name="rect8"/>
          <p:cNvSpPr/>
          <p:nvPr/>
        </p:nvSpPr>
        <p:spPr>
          <a:xfrm>
            <a:off x="2476500" y="1905000"/>
            <a:ext cx="2095500" cy="1143000"/>
          </a:xfrm>
          <a:prstGeom prst="rect">
            <a:avLst/>
          </a:prstGeom>
          <a:solidFill>
            <a:srgbClr val="E8F6F3"/>
          </a:solidFill>
        </p:spPr>
        <p:txBody>
          <a:bodyPr/>
          <a:lstStyle/>
          <a:p/>
        </p:txBody>
      </p:sp>
      <p:sp>
        <p:nvSpPr>
          <p:cNvPr id="9" name="rect9"/>
          <p:cNvSpPr/>
          <p:nvPr/>
        </p:nvSpPr>
        <p:spPr>
          <a:xfrm>
            <a:off x="4762500" y="1905000"/>
            <a:ext cx="2095500" cy="1143000"/>
          </a:xfrm>
          <a:prstGeom prst="rect">
            <a:avLst/>
          </a:prstGeom>
          <a:solidFill>
            <a:srgbClr val="E8F6F3"/>
          </a:solidFill>
        </p:spPr>
        <p:txBody>
          <a:bodyPr/>
          <a:lstStyle/>
          <a:p/>
        </p:txBody>
      </p:sp>
      <p:sp>
        <p:nvSpPr>
          <p:cNvPr id="10" name="rect10"/>
          <p:cNvSpPr/>
          <p:nvPr/>
        </p:nvSpPr>
        <p:spPr>
          <a:xfrm>
            <a:off x="7048500" y="1905000"/>
            <a:ext cx="2095500" cy="1143000"/>
          </a:xfrm>
          <a:prstGeom prst="rect">
            <a:avLst/>
          </a:prstGeom>
          <a:solidFill>
            <a:srgbClr val="E8F6F3"/>
          </a:solidFill>
        </p:spPr>
        <p:txBody>
          <a:bodyPr/>
          <a:lstStyle/>
          <a:p/>
        </p:txBody>
      </p:sp>
      <p:sp>
        <p:nvSpPr>
          <p:cNvPr id="11" name="rect11"/>
          <p:cNvSpPr/>
          <p:nvPr/>
        </p:nvSpPr>
        <p:spPr>
          <a:xfrm>
            <a:off x="9334500" y="1905000"/>
            <a:ext cx="2095500" cy="1143000"/>
          </a:xfrm>
          <a:prstGeom prst="rect">
            <a:avLst/>
          </a:prstGeom>
          <a:solidFill>
            <a:srgbClr val="E8F6F3"/>
          </a:solidFill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2619375" y="2047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Reads the forecast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4905375" y="2047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Boards at the mark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191375" y="2047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Advises the master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9477375" y="2047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Signs off the exit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62000" y="3381375"/>
            <a:ext cx="1524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Tugs</a:t>
            </a:r>
          </a:p>
        </p:txBody>
      </p:sp>
      <p:sp>
        <p:nvSpPr>
          <p:cNvPr id="17" name="rect17"/>
          <p:cNvSpPr/>
          <p:nvPr/>
        </p:nvSpPr>
        <p:spPr>
          <a:xfrm>
            <a:off x="2476500" y="3238500"/>
            <a:ext cx="2095500" cy="1143000"/>
          </a:xfrm>
          <a:prstGeom prst="rect">
            <a:avLst/>
          </a:prstGeom>
          <a:solidFill>
            <a:srgbClr val="D1F2EB"/>
          </a:solidFill>
        </p:spPr>
        <p:txBody>
          <a:bodyPr/>
          <a:lstStyle/>
          <a:p/>
        </p:txBody>
      </p:sp>
      <p:sp>
        <p:nvSpPr>
          <p:cNvPr id="18" name="rect18"/>
          <p:cNvSpPr/>
          <p:nvPr/>
        </p:nvSpPr>
        <p:spPr>
          <a:xfrm>
            <a:off x="4762500" y="3238500"/>
            <a:ext cx="2095500" cy="1143000"/>
          </a:xfrm>
          <a:prstGeom prst="rect">
            <a:avLst/>
          </a:prstGeom>
          <a:solidFill>
            <a:srgbClr val="D1F2EB"/>
          </a:solidFill>
        </p:spPr>
        <p:txBody>
          <a:bodyPr/>
          <a:lstStyle/>
          <a:p/>
        </p:txBody>
      </p:sp>
      <p:sp>
        <p:nvSpPr>
          <p:cNvPr id="19" name="rect19"/>
          <p:cNvSpPr/>
          <p:nvPr/>
        </p:nvSpPr>
        <p:spPr>
          <a:xfrm>
            <a:off x="7048500" y="3238500"/>
            <a:ext cx="2095500" cy="1143000"/>
          </a:xfrm>
          <a:prstGeom prst="rect">
            <a:avLst/>
          </a:prstGeom>
          <a:solidFill>
            <a:srgbClr val="D1F2EB"/>
          </a:solidFill>
        </p:spPr>
        <p:txBody>
          <a:bodyPr/>
          <a:lstStyle/>
          <a:p/>
        </p:txBody>
      </p:sp>
      <p:sp>
        <p:nvSpPr>
          <p:cNvPr id="20" name="rect20"/>
          <p:cNvSpPr/>
          <p:nvPr/>
        </p:nvSpPr>
        <p:spPr>
          <a:xfrm>
            <a:off x="9334500" y="3238500"/>
            <a:ext cx="2095500" cy="1143000"/>
          </a:xfrm>
          <a:prstGeom prst="rect">
            <a:avLst/>
          </a:prstGeom>
          <a:solidFill>
            <a:srgbClr val="D1F2EB"/>
          </a:solidFill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2619375" y="33813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Confirms the crews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4905375" y="33813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Holds station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7191375" y="33813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Pushes on the turn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9477375" y="33813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Escorts to the mark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62000" y="4714875"/>
            <a:ext cx="1524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1" i="0" dirty="0"/>
              <a:t>Quay crew</a:t>
            </a:r>
          </a:p>
        </p:txBody>
      </p:sp>
      <p:sp>
        <p:nvSpPr>
          <p:cNvPr id="26" name="rect26"/>
          <p:cNvSpPr/>
          <p:nvPr/>
        </p:nvSpPr>
        <p:spPr>
          <a:xfrm>
            <a:off x="2476500" y="4572000"/>
            <a:ext cx="2095500" cy="1143000"/>
          </a:xfrm>
          <a:prstGeom prst="rect">
            <a:avLst/>
          </a:prstGeom>
          <a:solidFill>
            <a:srgbClr val="A3E4D7"/>
          </a:solidFill>
        </p:spPr>
        <p:txBody>
          <a:bodyPr/>
          <a:lstStyle/>
          <a:p/>
        </p:txBody>
      </p:sp>
      <p:sp>
        <p:nvSpPr>
          <p:cNvPr id="27" name="rect27"/>
          <p:cNvSpPr/>
          <p:nvPr/>
        </p:nvSpPr>
        <p:spPr>
          <a:xfrm>
            <a:off x="4762500" y="4572000"/>
            <a:ext cx="2095500" cy="1143000"/>
          </a:xfrm>
          <a:prstGeom prst="rect">
            <a:avLst/>
          </a:prstGeom>
          <a:solidFill>
            <a:srgbClr val="A3E4D7"/>
          </a:solidFill>
        </p:spPr>
        <p:txBody>
          <a:bodyPr/>
          <a:lstStyle/>
          <a:p/>
        </p:txBody>
      </p:sp>
      <p:sp>
        <p:nvSpPr>
          <p:cNvPr id="28" name="rect28"/>
          <p:cNvSpPr/>
          <p:nvPr/>
        </p:nvSpPr>
        <p:spPr>
          <a:xfrm>
            <a:off x="7048500" y="4572000"/>
            <a:ext cx="2095500" cy="1143000"/>
          </a:xfrm>
          <a:prstGeom prst="rect">
            <a:avLst/>
          </a:prstGeom>
          <a:solidFill>
            <a:srgbClr val="A3E4D7"/>
          </a:solidFill>
        </p:spPr>
        <p:txBody>
          <a:bodyPr/>
          <a:lstStyle/>
          <a:p/>
        </p:txBody>
      </p:sp>
      <p:sp>
        <p:nvSpPr>
          <p:cNvPr id="29" name="rect29"/>
          <p:cNvSpPr/>
          <p:nvPr/>
        </p:nvSpPr>
        <p:spPr>
          <a:xfrm>
            <a:off x="9334500" y="4572000"/>
            <a:ext cx="2095500" cy="1143000"/>
          </a:xfrm>
          <a:prstGeom prst="rect">
            <a:avLst/>
          </a:prstGeom>
          <a:solidFill>
            <a:srgbClr val="A3E4D7"/>
          </a:solidFill>
        </p:spPr>
        <p:txBody>
          <a:bodyPr/>
          <a:lstStyle/>
          <a:p/>
        </p:txBody>
      </p:sp>
      <p:sp>
        <p:nvSpPr>
          <p:cNvPr id="30" name="text30"/>
          <p:cNvSpPr txBox="1"/>
          <p:nvPr/>
        </p:nvSpPr>
        <p:spPr>
          <a:xfrm>
            <a:off x="2619375" y="4714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Clears the berth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4905375" y="4714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Readies the lines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7191375" y="4714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Makes fast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9477375" y="4714875"/>
            <a:ext cx="180975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Lets go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400" b="1" i="0" dirty="0"/>
              <a:t>Thank you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Questions to the harbour desk, any tide.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8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Harbour lights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