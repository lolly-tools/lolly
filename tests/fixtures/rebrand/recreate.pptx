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Relationship Id="rId11" Type="http://schemas.openxmlformats.org/officeDocument/2006/relationships/notesMaster" Target="notesMasters/notesMaster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6096000"/>
            <a:ext cx="5486400" cy="48768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OPENING</a:t>
            </a:r>
            <a:br>
              <a:rPr lang="en-GB" dirty="0"/>
            </a:br>
            <a:r>
              <a:rPr lang="en-GB" dirty="0"/>
              <a:t>Welcome the room and name the harbour.</a:t>
            </a:r>
            <a:br>
              <a:rPr lang="en-GB" dirty="0"/>
            </a:br>
            <a:br>
              <a:rPr lang="en-GB" dirty="0"/>
            </a:br>
            <a:r>
              <a:rPr lang="en-GB" dirty="0"/>
              <a:t>TIMING</a:t>
            </a:r>
            <a:br>
              <a:rPr lang="en-GB" dirty="0"/>
            </a:br>
            <a:r>
              <a:rPr lang="en-GB" dirty="0"/>
              <a:t>Two minutes, then the questions.</a:t>
            </a:r>
          </a:p>
          <a:p>
            <a:r>
              <a:rPr lang="en-GB" dirty="0"/>
              <a:t>Photo: a generated picture, free to reuse.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three questions, then move 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SAY</a:t>
            </a:r>
            <a:br>
              <a:rPr lang="en-GB" dirty="0"/>
            </a:br>
            <a:r>
              <a:rPr lang="en-GB" dirty="0"/>
              <a:t>The window is shorter than the chart suggests.</a:t>
            </a:r>
            <a:br>
              <a:rPr lang="en-GB" dirty="0"/>
            </a:br>
            <a:r>
              <a:rPr lang="en-GB" dirty="0"/>
              <a:t>ASK</a:t>
            </a:r>
            <a:br>
              <a:rPr lang="en-GB" dirty="0"/>
            </a:br>
            <a:r>
              <a:rPr lang="en-GB" dirty="0"/>
              <a:t>Who checked the timetable this morning?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one land. Count to three.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one row, not all twelve cells.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crews by name.</a:t>
            </a:r>
          </a:p>
          <a:p>
            <a:r>
              <a:rPr lang="en-US" dirty="0"/>
              <a:t>Point to the shared tide table.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/>
      <p:sp>
        <p:nvSpPr>
          <p:cNvPr id="2" name="ph2"/>
          <p:cNvSpPr>
            <a:spLocks noGrp="1"/>
          </p:cNvSpPr>
          <p:nvPr>
            <p:ph type="title"/>
          </p:nvPr>
        </p:nvSpPr>
        <p:spPr>
          <a:xfrm>
            <a:off x="762000" y="1143000"/>
            <a:ext cx="10668000" cy="1047750"/>
          </a:xfrm>
          <a:prstGeom prst="rect">
            <a:avLst/>
          </a:prstGeom>
        </p:spPr>
        <p:txBody>
          <a:bodyPr anchor="t"/>
          <a:lstStyle>
            <a:lvl1pPr>
              <a:buNone/>
              <a:defRPr sz="1800"/>
            </a:lvl1pPr>
          </a:lstStyle>
          <a:p/>
        </p:txBody>
      </p:sp>
      <p:sp>
        <p:nvSpPr>
          <p:cNvPr id="3" name="ph3"/>
          <p:cNvSpPr>
            <a:spLocks noGrp="1"/>
          </p:cNvSpPr>
          <p:nvPr>
            <p:ph type="body" idx="1"/>
          </p:nvPr>
        </p:nvSpPr>
        <p:spPr>
          <a:xfrm>
            <a:off x="762000" y="2476500"/>
            <a:ext cx="10668000" cy="3238500"/>
          </a:xfrm>
          <a:prstGeom prst="rect">
            <a:avLst/>
          </a:prstGeom>
        </p:spPr>
        <p:txBody>
          <a:bodyPr anchor="t"/>
          <a:lstStyle>
            <a:lvl1pPr>
              <a:defRPr sz="1800"/>
            </a:lvl1pPr>
          </a:lstStyle>
          <a:p/>
        </p:txBody>
      </p:sp>
      <p:sp>
        <p:nvSpPr>
          <p:cNvPr id="4" name="ph4"/>
          <p:cNvSpPr>
            <a:spLocks noGrp="1"/>
          </p:cNvSpPr>
          <p:nvPr>
            <p:ph type="sldNum" idx="12"/>
          </p:nvPr>
        </p:nvSpPr>
        <p:spPr>
          <a:xfrm>
            <a:off x="10953750" y="6286500"/>
            <a:ext cx="571500" cy="285750"/>
          </a:xfrm>
          <a:prstGeom prst="rect">
            <a:avLst/>
          </a:prstGeom>
        </p:spPr>
        <p:txBody>
          <a:bodyPr anchor="t"/>
          <a:lstStyle>
            <a:lvl1pPr>
              <a:buNone/>
              <a:defRPr sz="1800"/>
            </a:lvl1pPr>
          </a:lstStyle>
          <a:p/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800">
          <a:solidFill>
            <a:schemeClr val="tx1"/>
          </a:solidFill>
          <a:latin typeface="+mj-lt"/>
        </a:defRPr>
      </a:lvl1pPr>
    </p:titleStyle>
    <p:bodyStyle>
      <a:lvl1pPr>
        <a:defRPr sz="1800">
          <a:solidFill>
            <a:schemeClr val="tx1"/>
          </a:solidFill>
          <a:latin typeface="+mn-lt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jpeg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_1.jpe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3"/>
          <p:cNvSpPr>
            <a:spLocks noGrp="1"/>
          </p:cNvSpPr>
          <p:nvPr>
            <p:ph type="title"/>
          </p:nvPr>
        </p:nvSpPr>
        <p:spPr>
          <a:xfrm>
            <a:off x="762000" y="4095750"/>
            <a:ext cx="8572500" cy="1047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4000" b="1" i="0" dirty="0">
                <a:solidFill>
                  <a:srgbClr val="FFFFFF"/>
                </a:solidFill>
              </a:rPr>
              <a:t>Harbour lights: planning for the tide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62000" y="5334000"/>
            <a:ext cx="5715000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2000" b="1" i="0" dirty="0">
                <a:solidFill>
                  <a:srgbClr val="FFFFFF"/>
                </a:solidFill>
              </a:rPr>
              <a:t>Robin Vale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762000" y="5715000"/>
            <a:ext cx="5715000" cy="285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>
                <a:solidFill>
                  <a:srgbClr val="FFFFFF"/>
                </a:solidFill>
              </a:rPr>
              <a:t>Tidal operations, Port of Example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2"/>
          <p:cNvSpPr>
            <a:spLocks noGrp="1"/>
          </p:cNvSpPr>
          <p:nvPr>
            <p:ph type="title"/>
          </p:nvPr>
        </p:nvSpPr>
        <p:spPr>
          <a:xfrm>
            <a:off x="762000" y="571500"/>
            <a:ext cx="10668000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3200" b="0" i="0" dirty="0"/>
              <a:t>Three questions for today</a:t>
            </a:r>
          </a:p>
        </p:txBody>
      </p:sp>
      <p:sp>
        <p:nvSpPr>
          <p:cNvPr id="3" name="rect3"/>
          <p:cNvSpPr/>
          <p:nvPr/>
        </p:nvSpPr>
        <p:spPr>
          <a:xfrm>
            <a:off x="762000" y="1905000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F2F3F5"/>
          </a:solidFill>
        </p:spPr>
        <p:txBody>
          <a:bodyPr/>
          <a:lstStyle/>
          <a:p/>
        </p:txBody>
      </p:sp>
      <p:sp>
        <p:nvSpPr>
          <p:cNvPr id="4" name="rect4"/>
          <p:cNvSpPr/>
          <p:nvPr/>
        </p:nvSpPr>
        <p:spPr>
          <a:xfrm>
            <a:off x="762000" y="1905000"/>
            <a:ext cx="3352800" cy="76200"/>
          </a:xfrm>
          <a:prstGeom prst="rect">
            <a:avLst/>
          </a:prstGeom>
          <a:solidFill>
            <a:srgbClr val="C0392B"/>
          </a:solidFill>
        </p:spPr>
        <p:txBody>
          <a:bodyPr/>
          <a:lstStyle/>
          <a:p/>
        </p:txBody>
      </p:sp>
      <p:sp>
        <p:nvSpPr>
          <p:cNvPr id="5" name="text5"/>
          <p:cNvSpPr txBox="1"/>
          <p:nvPr/>
        </p:nvSpPr>
        <p:spPr>
          <a:xfrm>
            <a:off x="1047750" y="2247900"/>
            <a:ext cx="1143000" cy="476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2800" b="1" i="0" dirty="0">
                <a:solidFill>
                  <a:srgbClr val="C0392B"/>
                </a:solidFill>
              </a:rPr>
              <a:t>01</a:t>
            </a:r>
          </a:p>
        </p:txBody>
      </p:sp>
      <p:sp>
        <p:nvSpPr>
          <p:cNvPr id="6" name="text6"/>
          <p:cNvSpPr txBox="1"/>
          <p:nvPr/>
        </p:nvSpPr>
        <p:spPr>
          <a:xfrm>
            <a:off x="1047750" y="2857500"/>
            <a:ext cx="285750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2200" b="1" i="0" dirty="0"/>
              <a:t>When does the window open?</a:t>
            </a:r>
          </a:p>
        </p:txBody>
      </p:sp>
      <p:sp>
        <p:nvSpPr>
          <p:cNvPr id="7" name="text7"/>
          <p:cNvSpPr txBox="1"/>
          <p:nvPr/>
        </p:nvSpPr>
        <p:spPr>
          <a:xfrm>
            <a:off x="1047750" y="3810000"/>
            <a:ext cx="2857500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Reading the timetable together.</a:t>
            </a:r>
          </a:p>
        </p:txBody>
      </p:sp>
      <p:sp>
        <p:nvSpPr>
          <p:cNvPr id="8" name="rect8"/>
          <p:cNvSpPr/>
          <p:nvPr/>
        </p:nvSpPr>
        <p:spPr>
          <a:xfrm>
            <a:off x="4419600" y="1905000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F2F3F5"/>
          </a:solidFill>
        </p:spPr>
        <p:txBody>
          <a:bodyPr/>
          <a:lstStyle/>
          <a:p/>
        </p:txBody>
      </p:sp>
      <p:sp>
        <p:nvSpPr>
          <p:cNvPr id="9" name="rect9"/>
          <p:cNvSpPr/>
          <p:nvPr/>
        </p:nvSpPr>
        <p:spPr>
          <a:xfrm>
            <a:off x="4419600" y="1905000"/>
            <a:ext cx="3352800" cy="76200"/>
          </a:xfrm>
          <a:prstGeom prst="rect">
            <a:avLst/>
          </a:prstGeom>
          <a:solidFill>
            <a:srgbClr val="2E86C1"/>
          </a:solidFill>
        </p:spPr>
        <p:txBody>
          <a:bodyPr/>
          <a:lstStyle/>
          <a:p/>
        </p:txBody>
      </p:sp>
      <p:sp>
        <p:nvSpPr>
          <p:cNvPr id="10" name="text10"/>
          <p:cNvSpPr txBox="1"/>
          <p:nvPr/>
        </p:nvSpPr>
        <p:spPr>
          <a:xfrm>
            <a:off x="4705350" y="2247900"/>
            <a:ext cx="1143000" cy="476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2800" b="1" i="0" dirty="0">
                <a:solidFill>
                  <a:srgbClr val="2E86C1"/>
                </a:solidFill>
              </a:rPr>
              <a:t>02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4705350" y="2857500"/>
            <a:ext cx="285750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2200" b="1" i="0" dirty="0"/>
              <a:t>Who moves first?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4705350" y="3810000"/>
            <a:ext cx="2857500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Pilots, tugs and the quay crew.</a:t>
            </a:r>
          </a:p>
        </p:txBody>
      </p:sp>
      <p:sp>
        <p:nvSpPr>
          <p:cNvPr id="13" name="rect13"/>
          <p:cNvSpPr/>
          <p:nvPr/>
        </p:nvSpPr>
        <p:spPr>
          <a:xfrm>
            <a:off x="8077200" y="1905000"/>
            <a:ext cx="3352800" cy="3048000"/>
          </a:xfrm>
          <a:prstGeom prst="roundRect">
            <a:avLst>
              <a:gd name="adj" fmla="val 5625"/>
            </a:avLst>
          </a:prstGeom>
          <a:solidFill>
            <a:srgbClr val="F2F3F5"/>
          </a:solidFill>
        </p:spPr>
        <p:txBody>
          <a:bodyPr/>
          <a:lstStyle/>
          <a:p/>
        </p:txBody>
      </p:sp>
      <p:sp>
        <p:nvSpPr>
          <p:cNvPr id="14" name="rect14"/>
          <p:cNvSpPr/>
          <p:nvPr/>
        </p:nvSpPr>
        <p:spPr>
          <a:xfrm>
            <a:off x="8077200" y="1905000"/>
            <a:ext cx="3352800" cy="76200"/>
          </a:xfrm>
          <a:prstGeom prst="rect">
            <a:avLst/>
          </a:prstGeom>
          <a:solidFill>
            <a:srgbClr val="27AE60"/>
          </a:solidFill>
        </p:spPr>
        <p:txBody>
          <a:bodyPr/>
          <a:lstStyle/>
          <a:p/>
        </p:txBody>
      </p:sp>
      <p:sp>
        <p:nvSpPr>
          <p:cNvPr id="15" name="text15"/>
          <p:cNvSpPr txBox="1"/>
          <p:nvPr/>
        </p:nvSpPr>
        <p:spPr>
          <a:xfrm>
            <a:off x="8362950" y="2247900"/>
            <a:ext cx="1143000" cy="476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2800" b="1" i="0" dirty="0">
                <a:solidFill>
                  <a:srgbClr val="27AE60"/>
                </a:solidFill>
              </a:rPr>
              <a:t>03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8362950" y="2857500"/>
            <a:ext cx="285750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2200" b="1" i="0" dirty="0"/>
              <a:t>What do we change?</a:t>
            </a:r>
          </a:p>
        </p:txBody>
      </p:sp>
      <p:sp>
        <p:nvSpPr>
          <p:cNvPr id="17" name="text17"/>
          <p:cNvSpPr txBox="1"/>
          <p:nvPr/>
        </p:nvSpPr>
        <p:spPr>
          <a:xfrm>
            <a:off x="8362950" y="3810000"/>
            <a:ext cx="2857500" cy="762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Two habits to start on Monday.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2"/>
          <p:cNvSpPr txBox="1"/>
          <p:nvPr/>
        </p:nvSpPr>
        <p:spPr>
          <a:xfrm>
            <a:off x="762000" y="762000"/>
            <a:ext cx="5715000" cy="2667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200" b="1" i="0" dirty="0"/>
              <a:t>WHY TIDES MATTER</a:t>
            </a:r>
          </a:p>
        </p:txBody>
      </p:sp>
      <p:sp>
        <p:nvSpPr>
          <p:cNvPr id="3" name="text3"/>
          <p:cNvSpPr>
            <a:spLocks noGrp="1"/>
          </p:cNvSpPr>
          <p:nvPr>
            <p:ph type="title"/>
          </p:nvPr>
        </p:nvSpPr>
        <p:spPr>
          <a:xfrm>
            <a:off x="762000" y="1143000"/>
            <a:ext cx="10668000" cy="1047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3600" b="0" i="0" dirty="0"/>
              <a:t>Every crossing starts with a timetable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62000" y="2476500"/>
            <a:ext cx="6667500" cy="1905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2000" b="0" i="0" dirty="0"/>
              <a:t>The window opens twice a day and closes faster than it looks.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2"/>
          <p:cNvSpPr>
            <a:spLocks noGrp="1"/>
          </p:cNvSpPr>
          <p:nvPr>
            <p:ph type="title"/>
          </p:nvPr>
        </p:nvSpPr>
        <p:spPr>
          <a:xfrm>
            <a:off x="762000" y="571500"/>
            <a:ext cx="10668000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3200" b="0" i="0" dirty="0"/>
              <a:t>What changes on the quay</a:t>
            </a:r>
          </a:p>
        </p:txBody>
      </p:sp>
      <p:sp>
        <p:nvSpPr>
          <p:cNvPr id="3" name="text3"/>
          <p:cNvSpPr>
            <a:spLocks noGrp="1"/>
          </p:cNvSpPr>
          <p:nvPr>
            <p:ph type="body" idx="1"/>
          </p:nvPr>
        </p:nvSpPr>
        <p:spPr>
          <a:xfrm>
            <a:off x="762000" y="1905000"/>
            <a:ext cx="10668000" cy="3429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400" b="0" i="0" dirty="0"/>
              <a:t>One shared tide table for every crew</a:t>
            </a:r>
          </a:p>
          <a:p>
            <a:pPr marL="342900" indent="-342900">
              <a:buFont typeface="Arial"/>
              <a:buChar char="•"/>
            </a:pPr>
            <a:r>
              <a:rPr lang="en-US" sz="2400" b="0" i="0" dirty="0"/>
              <a:t>Pilot boarding moves to the outer mark</a:t>
            </a:r>
          </a:p>
          <a:p>
            <a:pPr marL="342900" indent="-342900">
              <a:buFont typeface="Arial"/>
              <a:buChar char="•"/>
            </a:pPr>
            <a:r>
              <a:rPr lang="en-US" sz="2400" b="0" i="0" dirty="0"/>
              <a:t>Tugs wait at the south berth, clear of the channel</a:t>
            </a:r>
          </a:p>
          <a:p>
            <a:pPr marL="342900" indent="-342900">
              <a:buFont typeface="Arial"/>
              <a:buChar char="•"/>
            </a:pPr>
            <a:r>
              <a:rPr lang="en-US" sz="2400" b="0" i="0" dirty="0"/>
              <a:t>A ten-minute call before each high water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2"/>
          <p:cNvSpPr>
            <a:spLocks noGrp="1"/>
          </p:cNvSpPr>
          <p:nvPr>
            <p:ph type="title"/>
          </p:nvPr>
        </p:nvSpPr>
        <p:spPr>
          <a:xfrm>
            <a:off x="1333500" y="2762250"/>
            <a:ext cx="9525000" cy="13335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/>
            <a:r>
              <a:rPr lang="en-US" sz="4400" b="0" i="0" dirty="0"/>
              <a:t>The tide does not wait for the agenda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quay-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3"/>
          <p:cNvSpPr txBox="1"/>
          <p:nvPr/>
        </p:nvSpPr>
        <p:spPr>
          <a:xfrm>
            <a:off x="762000" y="6096000"/>
            <a:ext cx="7620000" cy="304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400" b="0" i="0" dirty="0">
                <a:solidFill>
                  <a:srgbClr val="FFFFFF"/>
                </a:solidFill>
              </a:rPr>
              <a:t>Low water at the north quay, early morning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2"/>
          <p:cNvSpPr>
            <a:spLocks noGrp="1"/>
          </p:cNvSpPr>
          <p:nvPr>
            <p:ph type="title"/>
          </p:nvPr>
        </p:nvSpPr>
        <p:spPr>
          <a:xfrm>
            <a:off x="762000" y="571500"/>
            <a:ext cx="10668000" cy="666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3200" b="0" i="0" dirty="0"/>
              <a:t>Who holds each stage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2476500" y="1428750"/>
            <a:ext cx="2095500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800" b="1" i="0" dirty="0"/>
              <a:t>Plan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4762500" y="1428750"/>
            <a:ext cx="2095500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800" b="1" i="0" dirty="0"/>
              <a:t>Board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7048500" y="1428750"/>
            <a:ext cx="2095500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800" b="1" i="0" dirty="0"/>
              <a:t>Berth</a:t>
            </a:r>
          </a:p>
        </p:txBody>
      </p:sp>
      <p:sp>
        <p:nvSpPr>
          <p:cNvPr id="6" name="text6"/>
          <p:cNvSpPr txBox="1"/>
          <p:nvPr/>
        </p:nvSpPr>
        <p:spPr>
          <a:xfrm>
            <a:off x="9334500" y="1428750"/>
            <a:ext cx="2095500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800" b="1" i="0" dirty="0"/>
              <a:t>Depart</a:t>
            </a:r>
          </a:p>
        </p:txBody>
      </p:sp>
      <p:sp>
        <p:nvSpPr>
          <p:cNvPr id="7" name="text7"/>
          <p:cNvSpPr txBox="1"/>
          <p:nvPr/>
        </p:nvSpPr>
        <p:spPr>
          <a:xfrm>
            <a:off x="762000" y="2047875"/>
            <a:ext cx="1524000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800" b="1" i="0" dirty="0"/>
              <a:t>Pilots</a:t>
            </a:r>
          </a:p>
        </p:txBody>
      </p:sp>
      <p:sp>
        <p:nvSpPr>
          <p:cNvPr id="8" name="rect8"/>
          <p:cNvSpPr/>
          <p:nvPr/>
        </p:nvSpPr>
        <p:spPr>
          <a:xfrm>
            <a:off x="2476500" y="1905000"/>
            <a:ext cx="2095500" cy="1143000"/>
          </a:xfrm>
          <a:prstGeom prst="rect">
            <a:avLst/>
          </a:prstGeom>
          <a:solidFill>
            <a:srgbClr val="E8F6F3"/>
          </a:solidFill>
        </p:spPr>
        <p:txBody>
          <a:bodyPr/>
          <a:lstStyle/>
          <a:p/>
        </p:txBody>
      </p:sp>
      <p:sp>
        <p:nvSpPr>
          <p:cNvPr id="9" name="rect9"/>
          <p:cNvSpPr/>
          <p:nvPr/>
        </p:nvSpPr>
        <p:spPr>
          <a:xfrm>
            <a:off x="4762500" y="1905000"/>
            <a:ext cx="2095500" cy="1143000"/>
          </a:xfrm>
          <a:prstGeom prst="rect">
            <a:avLst/>
          </a:prstGeom>
          <a:solidFill>
            <a:srgbClr val="E8F6F3"/>
          </a:solidFill>
        </p:spPr>
        <p:txBody>
          <a:bodyPr/>
          <a:lstStyle/>
          <a:p/>
        </p:txBody>
      </p:sp>
      <p:sp>
        <p:nvSpPr>
          <p:cNvPr id="10" name="rect10"/>
          <p:cNvSpPr/>
          <p:nvPr/>
        </p:nvSpPr>
        <p:spPr>
          <a:xfrm>
            <a:off x="7048500" y="1905000"/>
            <a:ext cx="2095500" cy="1143000"/>
          </a:xfrm>
          <a:prstGeom prst="rect">
            <a:avLst/>
          </a:prstGeom>
          <a:solidFill>
            <a:srgbClr val="E8F6F3"/>
          </a:solidFill>
        </p:spPr>
        <p:txBody>
          <a:bodyPr/>
          <a:lstStyle/>
          <a:p/>
        </p:txBody>
      </p:sp>
      <p:sp>
        <p:nvSpPr>
          <p:cNvPr id="11" name="rect11"/>
          <p:cNvSpPr/>
          <p:nvPr/>
        </p:nvSpPr>
        <p:spPr>
          <a:xfrm>
            <a:off x="9334500" y="1905000"/>
            <a:ext cx="2095500" cy="1143000"/>
          </a:xfrm>
          <a:prstGeom prst="rect">
            <a:avLst/>
          </a:prstGeom>
          <a:solidFill>
            <a:srgbClr val="E8F6F3"/>
          </a:solidFill>
        </p:spPr>
        <p:txBody>
          <a:bodyPr/>
          <a:lstStyle/>
          <a:p/>
        </p:txBody>
      </p:sp>
      <p:sp>
        <p:nvSpPr>
          <p:cNvPr id="12" name="text12"/>
          <p:cNvSpPr txBox="1"/>
          <p:nvPr/>
        </p:nvSpPr>
        <p:spPr>
          <a:xfrm>
            <a:off x="2619375" y="20478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Reads the forecast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4905375" y="20478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Boards at the mark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7191375" y="20478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Advises the master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9477375" y="20478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Signs off the exit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762000" y="3381375"/>
            <a:ext cx="1524000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800" b="1" i="0" dirty="0"/>
              <a:t>Tugs</a:t>
            </a:r>
          </a:p>
        </p:txBody>
      </p:sp>
      <p:sp>
        <p:nvSpPr>
          <p:cNvPr id="17" name="rect17"/>
          <p:cNvSpPr/>
          <p:nvPr/>
        </p:nvSpPr>
        <p:spPr>
          <a:xfrm>
            <a:off x="2476500" y="3238500"/>
            <a:ext cx="2095500" cy="1143000"/>
          </a:xfrm>
          <a:prstGeom prst="rect">
            <a:avLst/>
          </a:prstGeom>
          <a:solidFill>
            <a:srgbClr val="D1F2EB"/>
          </a:solidFill>
        </p:spPr>
        <p:txBody>
          <a:bodyPr/>
          <a:lstStyle/>
          <a:p/>
        </p:txBody>
      </p:sp>
      <p:sp>
        <p:nvSpPr>
          <p:cNvPr id="18" name="rect18"/>
          <p:cNvSpPr/>
          <p:nvPr/>
        </p:nvSpPr>
        <p:spPr>
          <a:xfrm>
            <a:off x="4762500" y="3238500"/>
            <a:ext cx="2095500" cy="1143000"/>
          </a:xfrm>
          <a:prstGeom prst="rect">
            <a:avLst/>
          </a:prstGeom>
          <a:solidFill>
            <a:srgbClr val="D1F2EB"/>
          </a:solidFill>
        </p:spPr>
        <p:txBody>
          <a:bodyPr/>
          <a:lstStyle/>
          <a:p/>
        </p:txBody>
      </p:sp>
      <p:sp>
        <p:nvSpPr>
          <p:cNvPr id="19" name="rect19"/>
          <p:cNvSpPr/>
          <p:nvPr/>
        </p:nvSpPr>
        <p:spPr>
          <a:xfrm>
            <a:off x="7048500" y="3238500"/>
            <a:ext cx="2095500" cy="1143000"/>
          </a:xfrm>
          <a:prstGeom prst="rect">
            <a:avLst/>
          </a:prstGeom>
          <a:solidFill>
            <a:srgbClr val="D1F2EB"/>
          </a:solidFill>
        </p:spPr>
        <p:txBody>
          <a:bodyPr/>
          <a:lstStyle/>
          <a:p/>
        </p:txBody>
      </p:sp>
      <p:sp>
        <p:nvSpPr>
          <p:cNvPr id="20" name="rect20"/>
          <p:cNvSpPr/>
          <p:nvPr/>
        </p:nvSpPr>
        <p:spPr>
          <a:xfrm>
            <a:off x="9334500" y="3238500"/>
            <a:ext cx="2095500" cy="1143000"/>
          </a:xfrm>
          <a:prstGeom prst="rect">
            <a:avLst/>
          </a:prstGeom>
          <a:solidFill>
            <a:srgbClr val="D1F2EB"/>
          </a:solidFill>
        </p:spPr>
        <p:txBody>
          <a:bodyPr/>
          <a:lstStyle/>
          <a:p/>
        </p:txBody>
      </p:sp>
      <p:sp>
        <p:nvSpPr>
          <p:cNvPr id="21" name="text21"/>
          <p:cNvSpPr txBox="1"/>
          <p:nvPr/>
        </p:nvSpPr>
        <p:spPr>
          <a:xfrm>
            <a:off x="2619375" y="33813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Confirms the crews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4905375" y="33813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Holds station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7191375" y="33813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Pushes on the turn</a:t>
            </a:r>
          </a:p>
        </p:txBody>
      </p:sp>
      <p:sp>
        <p:nvSpPr>
          <p:cNvPr id="24" name="text24"/>
          <p:cNvSpPr txBox="1"/>
          <p:nvPr/>
        </p:nvSpPr>
        <p:spPr>
          <a:xfrm>
            <a:off x="9477375" y="33813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Escorts to the mark</a:t>
            </a:r>
          </a:p>
        </p:txBody>
      </p:sp>
      <p:sp>
        <p:nvSpPr>
          <p:cNvPr id="25" name="text25"/>
          <p:cNvSpPr txBox="1"/>
          <p:nvPr/>
        </p:nvSpPr>
        <p:spPr>
          <a:xfrm>
            <a:off x="762000" y="4714875"/>
            <a:ext cx="1524000" cy="3429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800" b="1" i="0" dirty="0"/>
              <a:t>Quay crew</a:t>
            </a:r>
          </a:p>
        </p:txBody>
      </p:sp>
      <p:sp>
        <p:nvSpPr>
          <p:cNvPr id="26" name="rect26"/>
          <p:cNvSpPr/>
          <p:nvPr/>
        </p:nvSpPr>
        <p:spPr>
          <a:xfrm>
            <a:off x="2476500" y="4572000"/>
            <a:ext cx="2095500" cy="1143000"/>
          </a:xfrm>
          <a:prstGeom prst="rect">
            <a:avLst/>
          </a:prstGeom>
          <a:solidFill>
            <a:srgbClr val="A3E4D7"/>
          </a:solidFill>
        </p:spPr>
        <p:txBody>
          <a:bodyPr/>
          <a:lstStyle/>
          <a:p/>
        </p:txBody>
      </p:sp>
      <p:sp>
        <p:nvSpPr>
          <p:cNvPr id="27" name="rect27"/>
          <p:cNvSpPr/>
          <p:nvPr/>
        </p:nvSpPr>
        <p:spPr>
          <a:xfrm>
            <a:off x="4762500" y="4572000"/>
            <a:ext cx="2095500" cy="1143000"/>
          </a:xfrm>
          <a:prstGeom prst="rect">
            <a:avLst/>
          </a:prstGeom>
          <a:solidFill>
            <a:srgbClr val="A3E4D7"/>
          </a:solidFill>
        </p:spPr>
        <p:txBody>
          <a:bodyPr/>
          <a:lstStyle/>
          <a:p/>
        </p:txBody>
      </p:sp>
      <p:sp>
        <p:nvSpPr>
          <p:cNvPr id="28" name="rect28"/>
          <p:cNvSpPr/>
          <p:nvPr/>
        </p:nvSpPr>
        <p:spPr>
          <a:xfrm>
            <a:off x="7048500" y="4572000"/>
            <a:ext cx="2095500" cy="1143000"/>
          </a:xfrm>
          <a:prstGeom prst="rect">
            <a:avLst/>
          </a:prstGeom>
          <a:solidFill>
            <a:srgbClr val="A3E4D7"/>
          </a:solidFill>
        </p:spPr>
        <p:txBody>
          <a:bodyPr/>
          <a:lstStyle/>
          <a:p/>
        </p:txBody>
      </p:sp>
      <p:sp>
        <p:nvSpPr>
          <p:cNvPr id="29" name="rect29"/>
          <p:cNvSpPr/>
          <p:nvPr/>
        </p:nvSpPr>
        <p:spPr>
          <a:xfrm>
            <a:off x="9334500" y="4572000"/>
            <a:ext cx="2095500" cy="1143000"/>
          </a:xfrm>
          <a:prstGeom prst="rect">
            <a:avLst/>
          </a:prstGeom>
          <a:solidFill>
            <a:srgbClr val="A3E4D7"/>
          </a:solidFill>
        </p:spPr>
        <p:txBody>
          <a:bodyPr/>
          <a:lstStyle/>
          <a:p/>
        </p:txBody>
      </p:sp>
      <p:sp>
        <p:nvSpPr>
          <p:cNvPr id="30" name="text30"/>
          <p:cNvSpPr txBox="1"/>
          <p:nvPr/>
        </p:nvSpPr>
        <p:spPr>
          <a:xfrm>
            <a:off x="2619375" y="47148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Clears the berth</a:t>
            </a:r>
          </a:p>
        </p:txBody>
      </p:sp>
      <p:sp>
        <p:nvSpPr>
          <p:cNvPr id="31" name="text31"/>
          <p:cNvSpPr txBox="1"/>
          <p:nvPr/>
        </p:nvSpPr>
        <p:spPr>
          <a:xfrm>
            <a:off x="4905375" y="47148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Readies the lines</a:t>
            </a:r>
          </a:p>
        </p:txBody>
      </p:sp>
      <p:sp>
        <p:nvSpPr>
          <p:cNvPr id="32" name="text32"/>
          <p:cNvSpPr txBox="1"/>
          <p:nvPr/>
        </p:nvSpPr>
        <p:spPr>
          <a:xfrm>
            <a:off x="7191375" y="47148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Makes fast</a:t>
            </a:r>
          </a:p>
        </p:txBody>
      </p:sp>
      <p:sp>
        <p:nvSpPr>
          <p:cNvPr id="33" name="text33"/>
          <p:cNvSpPr txBox="1"/>
          <p:nvPr/>
        </p:nvSpPr>
        <p:spPr>
          <a:xfrm>
            <a:off x="9477375" y="4714875"/>
            <a:ext cx="1809750" cy="8572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1600" b="0" i="0" dirty="0"/>
              <a:t>Lets go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2"/>
          <p:cNvSpPr>
            <a:spLocks noGrp="1"/>
          </p:cNvSpPr>
          <p:nvPr>
            <p:ph type="title"/>
          </p:nvPr>
        </p:nvSpPr>
        <p:spPr>
          <a:xfrm>
            <a:off x="762000" y="2667000"/>
            <a:ext cx="10668000" cy="104775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4400" b="1" i="0" dirty="0"/>
              <a:t>Thank you</a:t>
            </a:r>
          </a:p>
        </p:txBody>
      </p:sp>
      <p:sp>
        <p:nvSpPr>
          <p:cNvPr id="3" name="text3"/>
          <p:cNvSpPr txBox="1"/>
          <p:nvPr/>
        </p:nvSpPr>
        <p:spPr>
          <a:xfrm>
            <a:off x="762000" y="3810000"/>
            <a:ext cx="10668000" cy="381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r>
              <a:rPr lang="en-US" sz="2000" b="0" i="0" dirty="0"/>
              <a:t>Questions to the harbour desk, any tide.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Lolly">
  <a:themeElements>
    <a:clrScheme name="Lolly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194D5"/>
      </a:accent1>
      <a:accent2>
        <a:srgbClr val="4DA46B"/>
      </a:accent2>
      <a:accent3>
        <a:srgbClr val="B28727"/>
      </a:accent3>
      <a:accent4>
        <a:srgbClr val="EFEFEF"/>
      </a:accent4>
      <a:accent5>
        <a:srgbClr val="A0A0A0"/>
      </a:accent5>
      <a:accent6>
        <a:srgbClr val="6B7280"/>
      </a:accent6>
      <a:hlink>
        <a:srgbClr val="336699"/>
      </a:hlink>
      <a:folHlink>
        <a:srgbClr val="6B7280"/>
      </a:folHlink>
    </a:clrScheme>
    <a:fontScheme name="Lolly">
      <a:majorFont>
        <a:latin typeface="Calibri"/>
        <a:ea typeface="Calibri"/>
        <a:cs typeface="Calibri"/>
      </a:majorFont>
      <a:minorFont>
        <a:latin typeface="Calibri"/>
        <a:ea typeface="Calibri"/>
        <a:cs typeface="Calibri"/>
      </a:minorFont>
    </a:fontScheme>
    <a:fmtScheme name="Lolly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Lolly">
  <a:themeElements>
    <a:clrScheme name="Lolly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194D5"/>
      </a:accent1>
      <a:accent2>
        <a:srgbClr val="4DA46B"/>
      </a:accent2>
      <a:accent3>
        <a:srgbClr val="B28727"/>
      </a:accent3>
      <a:accent4>
        <a:srgbClr val="EFEFEF"/>
      </a:accent4>
      <a:accent5>
        <a:srgbClr val="A0A0A0"/>
      </a:accent5>
      <a:accent6>
        <a:srgbClr val="6B7280"/>
      </a:accent6>
      <a:hlink>
        <a:srgbClr val="336699"/>
      </a:hlink>
      <a:folHlink>
        <a:srgbClr val="6B7280"/>
      </a:folHlink>
    </a:clrScheme>
    <a:fontScheme name="Lolly">
      <a:majorFont>
        <a:latin typeface="Calibri"/>
        <a:ea typeface="Calibri"/>
        <a:cs typeface="Calibri"/>
      </a:majorFont>
      <a:minorFont>
        <a:latin typeface="Calibri"/>
        <a:ea typeface="Calibri"/>
        <a:cs typeface="Calibri"/>
      </a:minorFont>
    </a:fontScheme>
    <a:fmtScheme name="Lolly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Lolly</Application>
  <Slides>8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Harbour lights</dc:title>
  <dc:creator>Lolly</dc:creator>
  <cp:lastModifiedBy>Lolly</cp:lastModifiedBy>
  <dcterms:created xsi:type="dcterms:W3CDTF">2026-01-01T00:00:00Z</dcterms:created>
  <dcterms:modified xsi:type="dcterms:W3CDTF">2026-01-01T00:00:00Z</dcterms:modified>
</cp:coreProperties>
</file>