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Lst>
  <p:sldSz cx="12192000" cy="6858000"/>
  <p:notesSz cx="6858000" cy="12192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c:chart>
    <c:plotArea>
      <c:layout/>
      <c:barChart>
        <c:barDir val="col"/>
        <c:grouping val="clustered"/>
        <c:ser>
          <c:idx val="0"/>
          <c:order val="0"/>
          <c:tx>
            <c:strRef>
              <c:f>Sheet1!$B$1</c:f>
              <c:strCache>
                <c:ptCount val="1"/>
                <c:pt idx="0">
                  <c:v>EU</c:v>
                </c:pt>
              </c:strCache>
            </c:strRef>
          </c:tx>
          <c:spPr>
            <a:solidFill>
              <a:srgbClr val="1F4E79"/>
            </a:solidFill>
          </c:spPr>
          <c:cat>
            <c:strRef>
              <c:f>Sheet1!$A$2:$A$5</c:f>
              <c:strCache>
                <c:ptCount val="4"/>
                <c:pt idx="0">
                  <c:v>Q1</c:v>
                </c:pt>
                <c:pt idx="1">
                  <c:v>Q2</c:v>
                </c:pt>
                <c:pt idx="2">
                  <c:v>Q3</c:v>
                </c:pt>
                <c:pt idx="3">
                  <c:v>Q4</c:v>
                </c:pt>
              </c:strCache>
            </c:strRef>
          </c:cat>
          <c:val>
            <c:numRef>
              <c:f>Sheet1!$B$2:$B$5</c:f>
              <c:numCache>
                <c:formatCode>General</c:formatCode>
                <c:ptCount val="4"/>
                <c:pt idx="0">
                  <c:v>12</c:v>
                </c:pt>
                <c:pt idx="1">
                  <c:v>14</c:v>
                </c:pt>
                <c:pt idx="2">
                  <c:v>15</c:v>
                </c:pt>
                <c:pt idx="3">
                  <c:v>18</c:v>
                </c:pt>
              </c:numCache>
            </c:numRef>
          </c:val>
        </c:ser>
        <c:ser>
          <c:idx val="1"/>
          <c:order val="1"/>
          <c:tx>
            <c:strRef>
              <c:f>Sheet1!$C$1</c:f>
              <c:strCache>
                <c:ptCount val="1"/>
                <c:pt idx="0">
                  <c:v>US</c:v>
                </c:pt>
              </c:strCache>
            </c:strRef>
          </c:tx>
          <c:spPr>
            <a:solidFill>
              <a:srgbClr val="D65A28"/>
            </a:solidFill>
          </c:spPr>
          <c:cat>
            <c:strRef>
              <c:f>Sheet1!$A$2:$A$5</c:f>
              <c:strCache>
                <c:ptCount val="4"/>
                <c:pt idx="0">
                  <c:v>Q1</c:v>
                </c:pt>
                <c:pt idx="1">
                  <c:v>Q2</c:v>
                </c:pt>
                <c:pt idx="2">
                  <c:v>Q3</c:v>
                </c:pt>
                <c:pt idx="3">
                  <c:v>Q4</c:v>
                </c:pt>
              </c:strCache>
            </c:strRef>
          </c:cat>
          <c:val>
            <c:numRef>
              <c:f>Sheet1!$C$2:$C$5</c:f>
              <c:numCache>
                <c:formatCode>General</c:formatCode>
                <c:ptCount val="4"/>
                <c:pt idx="0">
                  <c:v>9</c:v>
                </c:pt>
                <c:pt idx="1">
                  <c:v>11</c:v>
                </c:pt>
                <c:pt idx="2">
                  <c:v>10</c:v>
                </c:pt>
                <c:pt idx="3">
                  <c:v>13</c:v>
                </c:pt>
              </c:numCache>
            </c:numRef>
          </c:val>
        </c:ser>
        <c:axId val="111111111"/>
        <c:axId val="222222222"/>
      </c:barChart>
      <c:catAx>
        <c:axId val="111111111"/>
        <c:scaling>
          <c:orientation val="minMax"/>
        </c:scaling>
        <c:delete val="0"/>
        <c:axPos val="b"/>
        <c:crossAx val="222222222"/>
      </c:catAx>
      <c:valAx>
        <c:axId val="222222222"/>
        <c:scaling>
          <c:orientation val="minMax"/>
        </c:scaling>
        <c:delete val="0"/>
        <c:axPos val="l"/>
        <c:crossAx val="111111111"/>
      </c:valAx>
    </c:plotArea>
    <c:legend>
      <c:legendPos val="b"/>
    </c:legend>
    <c:plotVisOnly val="1"/>
  </c:chart>
</c:chartSpace>
</file>

<file path=ppt/charts/chart2.xml><?xml version="1.0" encoding="utf-8"?>
<c:chartSpace xmlns:c="http://schemas.openxmlformats.org/drawingml/2006/chart" xmlns:a="http://schemas.openxmlformats.org/drawingml/2006/main" xmlns:r="http://schemas.openxmlformats.org/officeDocument/2006/relationships">
  <c:chart>
    <c:plotArea>
      <c:layout/>
      <c:barChart>
        <c:barDir val="col"/>
        <c:grouping val="clustered"/>
        <c:ser>
          <c:idx val="0"/>
          <c:order val="0"/>
          <c:tx>
            <c:strRef>
              <c:f>Sheet1!$B$1</c:f>
              <c:strCache>
                <c:ptCount val="1"/>
                <c:pt idx="0">
                  <c:v>Share</c:v>
                </c:pt>
              </c:strCache>
            </c:strRef>
          </c:tx>
          <c:spPr>
            <a:solidFill>
              <a:srgbClr val="1F4E79"/>
            </a:solidFill>
          </c:spPr>
          <c:cat>
            <c:strRef>
              <c:f>Sheet1!$A$2:$A$6</c:f>
              <c:strCache>
                <c:ptCount val="5"/>
                <c:pt idx="0">
                  <c:v>EU</c:v>
                </c:pt>
                <c:pt idx="1">
                  <c:v>US</c:v>
                </c:pt>
                <c:pt idx="2">
                  <c:v>APAC</c:v>
                </c:pt>
                <c:pt idx="3">
                  <c:v>LATAM</c:v>
                </c:pt>
                <c:pt idx="4">
                  <c:v>MEA</c:v>
                </c:pt>
              </c:strCache>
            </c:strRef>
          </c:cat>
          <c:val>
            <c:numRef>
              <c:f>Sheet1!$B$2:$B$6</c:f>
              <c:numCache>
                <c:formatCode>General</c:formatCode>
                <c:ptCount val="5"/>
                <c:pt idx="0">
                  <c:v>40</c:v>
                </c:pt>
                <c:pt idx="1">
                  <c:v>70</c:v>
                </c:pt>
                <c:pt idx="2">
                  <c:v>55</c:v>
                </c:pt>
                <c:pt idx="3">
                  <c:v>90</c:v>
                </c:pt>
                <c:pt idx="4">
                  <c:v>65</c:v>
                </c:pt>
              </c:numCache>
            </c:numRef>
          </c:val>
        </c:ser>
        <c:axId val="111111111"/>
        <c:axId val="222222222"/>
      </c:barChart>
      <c:catAx>
        <c:axId val="111111111"/>
        <c:scaling>
          <c:orientation val="minMax"/>
        </c:scaling>
        <c:delete val="0"/>
        <c:axPos val="b"/>
        <c:crossAx val="222222222"/>
      </c:catAx>
      <c:valAx>
        <c:axId val="222222222"/>
        <c:scaling>
          <c:orientation val="minMax"/>
        </c:scaling>
        <c:delete val="0"/>
        <c:axPos val="l"/>
        <c:crossAx val="111111111"/>
      </c:valAx>
    </c:plotArea>
    <c:legend>
      <c:legendPos val="b"/>
    </c:legend>
    <c:plotVisOnly val="1"/>
  </c:chart>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p:sp>
        <p:nvSpPr>
          <p:cNvPr id="2" name="ph2"/>
          <p:cNvSpPr>
            <a:spLocks noGrp="1"/>
          </p:cNvSpPr>
          <p:nvPr>
            <p:ph type="title"/>
          </p:nvPr>
        </p:nvSpPr>
        <p:spPr>
          <a:xfrm>
            <a:off x="762000" y="1143000"/>
            <a:ext cx="10668000" cy="1047750"/>
          </a:xfrm>
          <a:prstGeom prst="rect">
            <a:avLst/>
          </a:prstGeom>
        </p:spPr>
        <p:txBody>
          <a:bodyPr anchor="t"/>
          <a:lstStyle>
            <a:lvl1pPr>
              <a:buNone/>
              <a:defRPr sz="1800"/>
            </a:lvl1pPr>
          </a:lstStyle>
          <a:p/>
        </p:txBody>
      </p:sp>
      <p:sp>
        <p:nvSpPr>
          <p:cNvPr id="3" name="ph3"/>
          <p:cNvSpPr>
            <a:spLocks noGrp="1"/>
          </p:cNvSpPr>
          <p:nvPr>
            <p:ph type="body" idx="1"/>
          </p:nvPr>
        </p:nvSpPr>
        <p:spPr>
          <a:xfrm>
            <a:off x="762000" y="2476500"/>
            <a:ext cx="10668000" cy="3238500"/>
          </a:xfrm>
          <a:prstGeom prst="rect">
            <a:avLst/>
          </a:prstGeom>
        </p:spPr>
        <p:txBody>
          <a:bodyPr anchor="t"/>
          <a:lstStyle>
            <a:lvl1pPr>
              <a:defRPr sz="1800"/>
            </a:lvl1pPr>
          </a:lstStyle>
          <a:p/>
        </p:txBody>
      </p:sp>
      <p:sp>
        <p:nvSpPr>
          <p:cNvPr id="4" name="ph4"/>
          <p:cNvSpPr>
            <a:spLocks noGrp="1"/>
          </p:cNvSpPr>
          <p:nvPr>
            <p:ph type="sldNum" idx="12"/>
          </p:nvPr>
        </p:nvSpPr>
        <p:spPr>
          <a:xfrm>
            <a:off x="10953750" y="6286500"/>
            <a:ext cx="571500" cy="285750"/>
          </a:xfrm>
          <a:prstGeom prst="rect">
            <a:avLst/>
          </a:prstGeom>
        </p:spPr>
        <p:txBody>
          <a:bodyPr anchor="t"/>
          <a:lstStyle>
            <a:lvl1pPr>
              <a:buNone/>
              <a:defRPr sz="1800"/>
            </a:lvl1pPr>
          </a:lstStyle>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
        <p:nvSpPr>
          <p:cNvPr id="80" name="confidential"/>
          <p:cNvSpPr txBox="1"/>
          <p:nvPr/>
        </p:nvSpPr>
        <p:spPr>
          <a:xfrm>
            <a:off x="9334500" y="190500"/>
            <a:ext cx="2476500" cy="228600"/>
          </a:xfrm>
          <a:prstGeom prst="rect">
            <a:avLst/>
          </a:prstGeom>
        </p:spPr>
        <p:txBody>
          <a:bodyPr wrap="square"/>
          <a:lstStyle/>
          <a:p>
            <a:pPr algn="r"/>
            <a:r>
              <a:rPr lang="en-US" sz="900" dirty="0"/>
              <a:t>Confidential - internal use only</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2800">
          <a:solidFill>
            <a:schemeClr val="tx1"/>
          </a:solidFill>
          <a:latin typeface="+mj-lt"/>
        </a:defRPr>
      </a:lvl1pPr>
    </p:titleStyle>
    <p:bodyStyle>
      <a:lvl1pPr>
        <a:defRPr sz="1800">
          <a:solidFill>
            <a:schemeClr val="tx1"/>
          </a:solidFill>
          <a:latin typeface="+mn-lt"/>
        </a:defRPr>
      </a:lvl1pPr>
    </p:bodyStyle>
    <p:otherStyle>
      <a:defPPr>
        <a:defRPr lang="en-US"/>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png"/><Relationship Id="rId3" Type="http://schemas.openxmlformats.org/officeDocument/2006/relationships/hyperlink" Target="https://example.invalid/reports/2021/regional-performance-and-outlook/full-tex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_1.png"/><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_1.png"/><Relationship Id="rId3" Type="http://schemas.openxmlformats.org/officeDocument/2006/relationships/image" Target="../media/image3_2.png"/><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2"/>
          <p:cNvSpPr>
            <a:spLocks noGrp="1"/>
          </p:cNvSpPr>
          <p:nvPr>
            <p:ph type="title"/>
          </p:nvPr>
        </p:nvSpPr>
        <p:spPr>
          <a:xfrm>
            <a:off x="762000" y="1143000"/>
            <a:ext cx="10668000" cy="1047750"/>
          </a:xfrm>
          <a:prstGeom prst="rect">
            <a:avLst/>
          </a:prstGeom>
          <a:noFill/>
        </p:spPr>
        <p:txBody>
          <a:bodyPr wrap="square" anchor="t" lIns="0" tIns="0" rIns="0" bIns="0">
            <a:noAutofit/>
          </a:bodyPr>
          <a:lstStyle/>
          <a:p>
            <a:r>
              <a:rPr lang="en-US" sz="3600" b="0" i="0" dirty="0"/>
              <a:t>Quarterly review</a:t>
            </a:r>
          </a:p>
        </p:txBody>
      </p:sp>
      <p:pic>
        <p:nvPicPr>
          <p:cNvPr id="3" name="partner-mark"/>
          <p:cNvPicPr>
            <a:picLocks noChangeAspect="1"/>
          </p:cNvPicPr>
          <p:nvPr/>
        </p:nvPicPr>
        <p:blipFill>
          <a:blip r:embed="rId2"/>
          <a:stretch>
            <a:fillRect/>
          </a:stretch>
        </p:blipFill>
        <p:spPr>
          <a:xfrm>
            <a:off x="10668000" y="5905500"/>
            <a:ext cx="609600" cy="609600"/>
          </a:xfrm>
          <a:prstGeom prst="rect">
            <a:avLst/>
          </a:prstGeom>
        </p:spPr>
      </p:pic>
      <p:sp>
        <p:nvSpPr>
          <p:cNvPr id="4" name="text4"/>
          <p:cNvSpPr txBox="1"/>
          <p:nvPr/>
        </p:nvSpPr>
        <p:spPr>
          <a:xfrm>
            <a:off x="762000" y="6400800"/>
            <a:ext cx="4762500" cy="228600"/>
          </a:xfrm>
          <a:prstGeom prst="rect">
            <a:avLst/>
          </a:prstGeom>
          <a:noFill/>
        </p:spPr>
        <p:txBody>
          <a:bodyPr wrap="square" anchor="t" lIns="0" tIns="0" rIns="0" bIns="0">
            <a:noAutofit/>
          </a:bodyPr>
          <a:lstStyle/>
          <a:p>
            <a:r>
              <a:rPr lang="en-US" sz="900" b="0" i="0" dirty="0"/>
              <a:t>Source: report 2021</a:t>
            </a:r>
          </a:p>
        </p:txBody>
      </p:sp>
      <p:sp>
        <p:nvSpPr>
          <p:cNvPr id="5" name="text5"/>
          <p:cNvSpPr txBox="1"/>
          <p:nvPr/>
        </p:nvSpPr>
        <p:spPr>
          <a:xfrm>
            <a:off x="762000" y="5905500"/>
            <a:ext cx="4762500" cy="209550"/>
          </a:xfrm>
          <a:prstGeom prst="rect">
            <a:avLst/>
          </a:prstGeom>
          <a:noFill/>
        </p:spPr>
        <p:txBody>
          <a:bodyPr wrap="square" anchor="t" lIns="0" tIns="0" rIns="0" bIns="0">
            <a:noAutofit/>
          </a:bodyPr>
          <a:lstStyle/>
          <a:p>
            <a:r>
              <a:rPr lang="en-US" sz="700" b="0" i="0" dirty="0"/>
              <a:t>Figures in EUR millions</a:t>
            </a:r>
          </a:p>
        </p:txBody>
      </p:sp>
      <p:grpSp>
        <p:nvGrpSpPr>
          <p:cNvPr id="70" name="group-phase"/>
          <p:cNvGrpSpPr/>
          <p:nvPr/>
        </p:nvGrpSpPr>
        <p:grpSpPr>
          <a:xfrm>
            <a:off x="1143000" y="4476750"/>
            <a:ext cx="3810000" cy="1143000"/>
            <a:chOff x="0" y="0"/>
            <a:chExt cx="7620000" cy="2286000"/>
          </a:xfrm>
        </p:grpSpPr>
        <p:sp>
          <p:nvSpPr>
            <p:cNvPr id="71" name="group-bar"/>
            <p:cNvSpPr/>
            <p:nvPr/>
          </p:nvSpPr>
          <p:spPr>
            <a:xfrm>
              <a:off x="0" y="0"/>
              <a:ext cx="3810000" cy="571500"/>
            </a:xfrm>
            <a:prstGeom prst="rect">
              <a:avLst/>
            </a:prstGeom>
            <a:solidFill>
              <a:srgbClr val="D65A28"/>
            </a:solidFill>
          </p:spPr>
          <p:txBody>
            <a:bodyPr/>
            <a:lstStyle/>
            <a:p/>
          </p:txBody>
        </p:sp>
        <p:sp>
          <p:nvSpPr>
            <p:cNvPr id="72" name="group-caption"/>
            <p:cNvSpPr txBox="1"/>
            <p:nvPr/>
          </p:nvSpPr>
          <p:spPr>
            <a:xfrm>
              <a:off x="0" y="762000"/>
              <a:ext cx="5334000" cy="571500"/>
            </a:xfrm>
            <a:prstGeom prst="rect">
              <a:avLst/>
            </a:prstGeom>
          </p:spPr>
          <p:txBody>
            <a:bodyPr wrap="square"/>
            <a:lstStyle/>
            <a:p>
              <a:pPr/>
              <a:r>
                <a:rPr lang="en-US" sz="1400" dirty="0"/>
                <a:t>Phase one</a:t>
              </a:r>
            </a:p>
          </p:txBody>
        </p:sp>
      </p:grpSp>
      <p:sp>
        <p:nvSpPr>
          <p:cNvPr id="73" name="long-url"/>
          <p:cNvSpPr txBox="1"/>
          <p:nvPr/>
        </p:nvSpPr>
        <p:spPr>
          <a:xfrm>
            <a:off x="762000" y="6096000"/>
            <a:ext cx="8572500" cy="228600"/>
          </a:xfrm>
          <a:prstGeom prst="rect">
            <a:avLst/>
          </a:prstGeom>
        </p:spPr>
        <p:txBody>
          <a:bodyPr wrap="square"/>
          <a:lstStyle/>
          <a:p>
            <a:pPr/>
            <a:r>
              <a:rPr lang="en-US" sz="1100" dirty="0">
                <a:hlinkClick xmlns:r="http://schemas.openxmlformats.org/officeDocument/2006/relationships" r:id="rId3"/>
              </a:rPr>
              <a:t>https://example.invalid/reports/2021/regional-performance-and-outlook/full-text</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2"/>
          <p:cNvSpPr>
            <a:spLocks noGrp="1"/>
          </p:cNvSpPr>
          <p:nvPr>
            <p:ph type="title"/>
          </p:nvPr>
        </p:nvSpPr>
        <p:spPr>
          <a:xfrm>
            <a:off x="762000" y="1143000"/>
            <a:ext cx="10668000" cy="1047750"/>
          </a:xfrm>
          <a:prstGeom prst="rect">
            <a:avLst/>
          </a:prstGeom>
          <a:noFill/>
        </p:spPr>
        <p:txBody>
          <a:bodyPr wrap="square" anchor="t" lIns="0" tIns="0" rIns="0" bIns="0">
            <a:noAutofit/>
          </a:bodyPr>
          <a:lstStyle/>
          <a:p>
            <a:r>
              <a:rPr lang="en-US" sz="3600" b="0" i="0" dirty="0"/>
              <a:t>Market data</a:t>
            </a:r>
          </a:p>
        </p:txBody>
      </p:sp>
      <p:pic>
        <p:nvPicPr>
          <p:cNvPr id="3" name="partner-mark"/>
          <p:cNvPicPr>
            <a:picLocks noChangeAspect="1"/>
          </p:cNvPicPr>
          <p:nvPr/>
        </p:nvPicPr>
        <p:blipFill>
          <a:blip r:embed="rId2"/>
          <a:stretch>
            <a:fillRect/>
          </a:stretch>
        </p:blipFill>
        <p:spPr>
          <a:xfrm>
            <a:off x="10668000" y="5905500"/>
            <a:ext cx="609600" cy="609600"/>
          </a:xfrm>
          <a:prstGeom prst="rect">
            <a:avLst/>
          </a:prstGeom>
        </p:spPr>
      </p:pic>
      <p:sp>
        <p:nvSpPr>
          <p:cNvPr id="4" name="text4"/>
          <p:cNvSpPr txBox="1"/>
          <p:nvPr/>
        </p:nvSpPr>
        <p:spPr>
          <a:xfrm>
            <a:off x="762000" y="5676900"/>
            <a:ext cx="3810000" cy="228600"/>
          </a:xfrm>
          <a:prstGeom prst="rect">
            <a:avLst/>
          </a:prstGeom>
          <a:noFill/>
        </p:spPr>
        <p:txBody>
          <a:bodyPr wrap="square" anchor="t" lIns="0" tIns="0" rIns="0" bIns="0">
            <a:noAutofit/>
          </a:bodyPr>
          <a:lstStyle/>
          <a:p>
            <a:r>
              <a:rPr lang="en-US" sz="1000" b="0" i="0" dirty="0"/>
              <a:t>Key: EU, US, APAC</a:t>
            </a:r>
          </a:p>
        </p:txBody>
      </p:sp>
      <p:sp>
        <p:nvSpPr>
          <p:cNvPr id="5" name="text5"/>
          <p:cNvSpPr txBox="1"/>
          <p:nvPr/>
        </p:nvSpPr>
        <p:spPr>
          <a:xfrm>
            <a:off x="762000" y="6400800"/>
            <a:ext cx="4762500" cy="228600"/>
          </a:xfrm>
          <a:prstGeom prst="rect">
            <a:avLst/>
          </a:prstGeom>
          <a:noFill/>
        </p:spPr>
        <p:txBody>
          <a:bodyPr wrap="square" anchor="t" lIns="0" tIns="0" rIns="0" bIns="0">
            <a:noAutofit/>
          </a:bodyPr>
          <a:lstStyle/>
          <a:p>
            <a:r>
              <a:rPr lang="en-US" sz="900" b="0" i="0" dirty="0"/>
              <a:t>Source: report 2022</a:t>
            </a:r>
          </a:p>
        </p:txBody>
      </p:sp>
      <p:sp>
        <p:nvSpPr>
          <p:cNvPr id="6" name="text6"/>
          <p:cNvSpPr txBox="1"/>
          <p:nvPr/>
        </p:nvSpPr>
        <p:spPr>
          <a:xfrm>
            <a:off x="762000" y="5905500"/>
            <a:ext cx="4762500" cy="209550"/>
          </a:xfrm>
          <a:prstGeom prst="rect">
            <a:avLst/>
          </a:prstGeom>
          <a:noFill/>
        </p:spPr>
        <p:txBody>
          <a:bodyPr wrap="square" anchor="t" lIns="0" tIns="0" rIns="0" bIns="0">
            <a:noAutofit/>
          </a:bodyPr>
          <a:lstStyle/>
          <a:p>
            <a:r>
              <a:rPr lang="en-US" sz="700" b="0" i="0" dirty="0"/>
              <a:t>Figures in EUR millions</a:t>
            </a:r>
          </a:p>
        </p:txBody>
      </p:sp>
      <p:graphicFrame>
        <p:nvGraphicFramePr>
          <p:cNvPr id="74" name="chart-no-fallback"/>
          <p:cNvGraphicFramePr/>
          <p:nvPr/>
        </p:nvGraphicFramePr>
        <p:xfrm>
          <a:off x="1905000" y="2476500"/>
          <a:ext cx="5334000" cy="2857500"/>
        </p:xfrm>
        <a:graphic>
          <a:graphicData uri="http://schemas.openxmlformats.org/drawingml/2006/chart">
            <c:chart xmlns:c="http://schemas.openxmlformats.org/drawingml/2006/chart" xmlns:r="http://schemas.openxmlformats.org/officeDocument/2006/relationships" r:id="rId3"/>
          </a:graphicData>
        </a:graphic>
      </p:graphicFrame>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2"/>
          <p:cNvSpPr>
            <a:spLocks noGrp="1"/>
          </p:cNvSpPr>
          <p:nvPr>
            <p:ph type="title"/>
          </p:nvPr>
        </p:nvSpPr>
        <p:spPr>
          <a:xfrm>
            <a:off x="762000" y="1143000"/>
            <a:ext cx="10668000" cy="1047750"/>
          </a:xfrm>
          <a:prstGeom prst="rect">
            <a:avLst/>
          </a:prstGeom>
          <a:noFill/>
        </p:spPr>
        <p:txBody>
          <a:bodyPr wrap="square" anchor="t" lIns="0" tIns="0" rIns="0" bIns="0">
            <a:noAutofit/>
          </a:bodyPr>
          <a:lstStyle/>
          <a:p>
            <a:r>
              <a:rPr lang="en-US" sz="3600" b="0" i="0" dirty="0"/>
              <a:t>Regional detail</a:t>
            </a:r>
          </a:p>
        </p:txBody>
      </p:sp>
      <p:sp>
        <p:nvSpPr>
          <p:cNvPr id="3" name="text3"/>
          <p:cNvSpPr>
            <a:spLocks noGrp="1"/>
          </p:cNvSpPr>
          <p:nvPr>
            <p:ph type="body" idx="1"/>
          </p:nvPr>
        </p:nvSpPr>
        <p:spPr>
          <a:xfrm>
            <a:off x="762000" y="2286000"/>
            <a:ext cx="4000500" cy="857250"/>
          </a:xfrm>
          <a:prstGeom prst="rect">
            <a:avLst/>
          </a:prstGeom>
          <a:noFill/>
        </p:spPr>
        <p:txBody>
          <a:bodyPr wrap="square" anchor="t" lIns="0" tIns="0" rIns="0" bIns="0">
            <a:noAutofit/>
          </a:bodyPr>
          <a:lstStyle/>
          <a:p>
            <a:r>
              <a:rPr lang="en-US" sz="1800" b="0" i="0" dirty="0"/>
              <a:t>Growth in the region held through the second half, and the pipeline for the first quarter of next year is larger than it was at the same point last year, which is why the outlook has not been reduced.</a:t>
            </a:r>
          </a:p>
        </p:txBody>
      </p:sp>
      <p:graphicFrame>
        <p:nvGraphicFramePr>
          <p:cNvPr id="4" name="table4"/>
          <p:cNvGraphicFramePr>
            <a:graphicFrameLocks noGrp="1"/>
          </p:cNvGraphicFramePr>
          <p:nvPr/>
        </p:nvGraphicFramePr>
        <p:xfrm>
          <a:off x="762000" y="3429000"/>
          <a:ext cx="4000500" cy="1143000"/>
        </p:xfrm>
        <a:graphic>
          <a:graphicData uri="http://schemas.openxmlformats.org/drawingml/2006/table">
            <a:tbl>
              <a:tblPr firstRow="1" bandRow="1">
                <a:tableStyleId>{5C22544A-7EE6-4342-B048-85BDC9FD1C3A}</a:tableStyleId>
              </a:tblPr>
              <a:tblGrid>
                <a:gridCol w="2000250"/>
                <a:gridCol w="2000250"/>
              </a:tblGrid>
              <a:tr h="381000">
                <a:tc>
                  <a:txBody>
                    <a:bodyPr/>
                    <a:lstStyle/>
                    <a:p>
                      <a:r>
                        <a:rPr lang="en-US" sz="1200" b="1" i="0" dirty="0"/>
                        <a:t>Region</a:t>
                      </a:r>
                    </a:p>
                  </a:txBody>
                  <a:tcPr marL="91440" marR="91440" marT="45720" marB="45720" anchor="ctr"/>
                </a:tc>
                <a:tc>
                  <a:txBody>
                    <a:bodyPr/>
                    <a:lstStyle/>
                    <a:p>
                      <a:r>
                        <a:rPr lang="en-US" sz="1200" b="1" i="0" dirty="0"/>
                        <a:t>Change</a:t>
                      </a:r>
                    </a:p>
                  </a:txBody>
                  <a:tcPr marL="91440" marR="91440" marT="45720" marB="45720" anchor="ctr"/>
                </a:tc>
              </a:tr>
              <a:tr h="381000">
                <a:tc>
                  <a:txBody>
                    <a:bodyPr/>
                    <a:lstStyle/>
                    <a:p>
                      <a:r>
                        <a:rPr lang="en-US" sz="1200" b="0" i="0" dirty="0"/>
                        <a:t>EU</a:t>
                      </a:r>
                    </a:p>
                  </a:txBody>
                  <a:tcPr marL="91440" marR="91440" marT="45720" marB="45720" anchor="ctr"/>
                </a:tc>
                <a:tc>
                  <a:txBody>
                    <a:bodyPr/>
                    <a:lstStyle/>
                    <a:p>
                      <a:r>
                        <a:rPr lang="en-US" sz="1200" b="0" i="0" dirty="0"/>
                        <a:t>+4%</a:t>
                      </a:r>
                    </a:p>
                  </a:txBody>
                  <a:tcPr marL="91440" marR="91440" marT="45720" marB="45720" anchor="ctr"/>
                </a:tc>
              </a:tr>
              <a:tr h="381000">
                <a:tc>
                  <a:txBody>
                    <a:bodyPr/>
                    <a:lstStyle/>
                    <a:p>
                      <a:r>
                        <a:rPr lang="en-US" sz="1200" b="0" i="0" dirty="0"/>
                        <a:t>APAC</a:t>
                      </a:r>
                    </a:p>
                  </a:txBody>
                  <a:tcPr marL="91440" marR="91440" marT="45720" marB="45720" anchor="ctr"/>
                </a:tc>
                <a:tc>
                  <a:txBody>
                    <a:bodyPr/>
                    <a:lstStyle/>
                    <a:p>
                      <a:r>
                        <a:rPr lang="en-US" sz="1200" b="0" i="0" dirty="0"/>
                        <a:t>+9%</a:t>
                      </a:r>
                    </a:p>
                  </a:txBody>
                  <a:tcPr marL="91440" marR="91440" marT="45720" marB="45720" anchor="ctr"/>
                </a:tc>
              </a:tr>
            </a:tbl>
          </a:graphicData>
        </a:graphic>
      </p:graphicFrame>
      <p:pic>
        <p:nvPicPr>
          <p:cNvPr id="5" name="partner-mark"/>
          <p:cNvPicPr>
            <a:picLocks noChangeAspect="1"/>
          </p:cNvPicPr>
          <p:nvPr/>
        </p:nvPicPr>
        <p:blipFill>
          <a:blip r:embed="rId2"/>
          <a:stretch>
            <a:fillRect/>
          </a:stretch>
        </p:blipFill>
        <p:spPr>
          <a:xfrm>
            <a:off x="10668000" y="5905500"/>
            <a:ext cx="609600" cy="609600"/>
          </a:xfrm>
          <a:prstGeom prst="rect">
            <a:avLst/>
          </a:prstGeom>
        </p:spPr>
      </p:pic>
      <p:sp>
        <p:nvSpPr>
          <p:cNvPr id="6" name="text6"/>
          <p:cNvSpPr txBox="1"/>
          <p:nvPr/>
        </p:nvSpPr>
        <p:spPr>
          <a:xfrm>
            <a:off x="762000" y="5676900"/>
            <a:ext cx="3810000" cy="228600"/>
          </a:xfrm>
          <a:prstGeom prst="rect">
            <a:avLst/>
          </a:prstGeom>
          <a:noFill/>
        </p:spPr>
        <p:txBody>
          <a:bodyPr wrap="square" anchor="t" lIns="0" tIns="0" rIns="0" bIns="0">
            <a:noAutofit/>
          </a:bodyPr>
          <a:lstStyle/>
          <a:p>
            <a:r>
              <a:rPr lang="en-US" sz="1000" b="0" i="0" dirty="0"/>
              <a:t>Key: EU, US, APAC</a:t>
            </a:r>
          </a:p>
        </p:txBody>
      </p:sp>
      <p:sp>
        <p:nvSpPr>
          <p:cNvPr id="7" name="text7"/>
          <p:cNvSpPr txBox="1"/>
          <p:nvPr/>
        </p:nvSpPr>
        <p:spPr>
          <a:xfrm>
            <a:off x="762000" y="6400800"/>
            <a:ext cx="4762500" cy="228600"/>
          </a:xfrm>
          <a:prstGeom prst="rect">
            <a:avLst/>
          </a:prstGeom>
          <a:noFill/>
        </p:spPr>
        <p:txBody>
          <a:bodyPr wrap="square" anchor="t" lIns="0" tIns="0" rIns="0" bIns="0">
            <a:noAutofit/>
          </a:bodyPr>
          <a:lstStyle/>
          <a:p>
            <a:r>
              <a:rPr lang="en-US" sz="900" b="0" i="0" dirty="0"/>
              <a:t>Source: report 2023</a:t>
            </a:r>
          </a:p>
        </p:txBody>
      </p:sp>
      <p:sp>
        <p:nvSpPr>
          <p:cNvPr id="8" name="text8"/>
          <p:cNvSpPr txBox="1"/>
          <p:nvPr/>
        </p:nvSpPr>
        <p:spPr>
          <a:xfrm>
            <a:off x="762000" y="5905500"/>
            <a:ext cx="4762500" cy="209550"/>
          </a:xfrm>
          <a:prstGeom prst="rect">
            <a:avLst/>
          </a:prstGeom>
          <a:noFill/>
        </p:spPr>
        <p:txBody>
          <a:bodyPr wrap="square" anchor="t" lIns="0" tIns="0" rIns="0" bIns="0">
            <a:noAutofit/>
          </a:bodyPr>
          <a:lstStyle/>
          <a:p>
            <a:r>
              <a:rPr lang="en-US" sz="700" b="0" i="0" dirty="0"/>
              <a:t>Figures in EUR millions</a:t>
            </a:r>
          </a:p>
        </p:txBody>
      </p:sp>
      <mc:AlternateContent xmlns:mc="http://schemas.openxmlformats.org/markup-compatibility/2006">
        <mc:Choice xmlns:c14="http://schemas.microsoft.com/office/drawing/2007/8/2/chart" Requires="c14">
          <p:graphicFrame>
            <p:nvGraphicFramePr>
              <p:cNvPr id="75" name="chart-with-fallback"/>
              <p:cNvGraphicFramePr/>
              <p:nvPr/>
            </p:nvGraphicFramePr>
            <p:xfrm>
              <a:off x="5905500" y="2857500"/>
              <a:ext cx="4572000" cy="2857500"/>
            </p:xfrm>
            <a:graphic>
              <a:graphicData uri="http://schemas.openxmlformats.org/drawingml/2006/chart">
                <c:chart xmlns:c="http://schemas.openxmlformats.org/drawingml/2006/chart" xmlns:r="http://schemas.openxmlformats.org/officeDocument/2006/relationships" r:id="rId4"/>
              </a:graphicData>
            </a:graphic>
          </p:graphicFrame>
        </mc:Choice>
        <mc:Fallback>
          <p:pic>
            <p:nvPicPr>
              <p:cNvPr id="76" name="chart-fallback-picture"/>
              <p:cNvPicPr/>
              <p:nvPr/>
            </p:nvPicPr>
            <p:blipFill>
              <a:blip xmlns:r="http://schemas.openxmlformats.org/officeDocument/2006/relationships" r:embed="rId3"/>
              <a:stretch>
                <a:fillRect/>
              </a:stretch>
            </p:blipFill>
            <p:spPr>
              <a:xfrm>
                <a:off x="5905500" y="2857500"/>
                <a:ext cx="4572000" cy="2857500"/>
              </a:xfrm>
              <a:prstGeom prst="rect">
                <a:avLst/>
              </a:prstGeom>
            </p:spPr>
          </p:pic>
        </mc:Fallback>
      </mc:AlternateContent>
      <p:sp>
        <p:nvSpPr>
          <p:cNvPr id="77" name="arabic-line"/>
          <p:cNvSpPr txBox="1"/>
          <p:nvPr/>
        </p:nvSpPr>
        <p:spPr>
          <a:xfrm>
            <a:off x="5905500" y="1905000"/>
            <a:ext cx="4572000" cy="381000"/>
          </a:xfrm>
          <a:prstGeom prst="rect">
            <a:avLst/>
          </a:prstGeom>
        </p:spPr>
        <p:txBody>
          <a:bodyPr wrap="square"/>
          <a:lstStyle/>
          <a:p>
            <a:pPr rtl="1" algn="r"/>
            <a:r>
              <a:rPr lang="en-US" sz="1600" dirty="0"/>
              <a:t>المبيعات حسب المنطقة</a:t>
            </a:r>
          </a:p>
        </p:txBody>
      </p:sp>
      <p:sp>
        <p:nvSpPr>
          <p:cNvPr id="78" name="japanese-line"/>
          <p:cNvSpPr txBox="1"/>
          <p:nvPr/>
        </p:nvSpPr>
        <p:spPr>
          <a:xfrm>
            <a:off x="762000" y="4762500"/>
            <a:ext cx="4000500" cy="381000"/>
          </a:xfrm>
          <a:prstGeom prst="rect">
            <a:avLst/>
          </a:prstGeom>
        </p:spPr>
        <p:txBody>
          <a:bodyPr wrap="square"/>
          <a:lstStyle/>
          <a:p>
            <a:pPr/>
            <a:r>
              <a:rPr lang="en-US" sz="1600" dirty="0"/>
              <a:t>地域別の売上高</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Lolly">
  <a:themeElements>
    <a:clrScheme name="Lolly">
      <a:dk1>
        <a:srgbClr val="000000"/>
      </a:dk1>
      <a:lt1>
        <a:srgbClr val="FFFFFF"/>
      </a:lt1>
      <a:dk2>
        <a:srgbClr val="44546A"/>
      </a:dk2>
      <a:lt2>
        <a:srgbClr val="E7E6E6"/>
      </a:lt2>
      <a:accent1>
        <a:srgbClr val="5194D5"/>
      </a:accent1>
      <a:accent2>
        <a:srgbClr val="4DA46B"/>
      </a:accent2>
      <a:accent3>
        <a:srgbClr val="B28727"/>
      </a:accent3>
      <a:accent4>
        <a:srgbClr val="EFEFEF"/>
      </a:accent4>
      <a:accent5>
        <a:srgbClr val="A0A0A0"/>
      </a:accent5>
      <a:accent6>
        <a:srgbClr val="6B7280"/>
      </a:accent6>
      <a:hlink>
        <a:srgbClr val="336699"/>
      </a:hlink>
      <a:folHlink>
        <a:srgbClr val="6B7280"/>
      </a:folHlink>
    </a:clrScheme>
    <a:fontScheme name="Lolly">
      <a:majorFont>
        <a:latin typeface="Calibri"/>
        <a:ea typeface="Calibri"/>
        <a:cs typeface="Calibri"/>
      </a:majorFont>
      <a:minorFont>
        <a:latin typeface="Calibri"/>
        <a:ea typeface="Calibri"/>
        <a:cs typeface="Calibri"/>
      </a:minorFont>
    </a:fontScheme>
    <a:fmtScheme name="Lolly">
      <a:fillStyleLst>
        <a:solidFill>
          <a:schemeClr val="phClr"/>
        </a:solidFill>
        <a:solidFill>
          <a:schemeClr val="phClr"/>
        </a:solidFill>
        <a:solidFill>
          <a:schemeClr val="phClr"/>
        </a:solidFill>
      </a:fillStyleLst>
      <a:lnStyleLst>
        <a:ln>
          <a:solidFill>
            <a:schemeClr val="phClr"/>
          </a:solidFill>
        </a:ln>
        <a:ln>
          <a:solidFill>
            <a:schemeClr val="phClr"/>
          </a:solidFill>
        </a:ln>
        <a:ln>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Lolly</Application>
  <Slides>3</Slides>
  <PresentationFormat>Custom</PresentationFormat>
</Properties>
</file>

<file path=docProps/core.xml><?xml version="1.0" encoding="utf-8"?>
<cp:coreProperties xmlns:cp="http://schemas.openxmlformats.org/package/2006/metadata/core-properties" xmlns:dc="http://purl.org/dc/elements/1.1/" xmlns:dcterms="http://purl.org/dc/terms/" xmlns:xsi="http://www.w3.org/2001/XMLSchema-instance">
  <dc:title>Rebrand fixture: adversarial</dc:title>
  <dc:creator>Lolly</dc:creator>
  <cp:lastModifiedBy>Lolly</cp:lastModifiedBy>
  <dcterms:created xsi:type="dcterms:W3CDTF">2026-01-01T00:00:00Z</dcterms:created>
  <dcterms:modified xsi:type="dcterms:W3CDTF">2026-01-01T00:00:00Z</dcterms:modified>
</cp:coreProperties>
</file>