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D65A28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</c:v>
                </c:pt>
                <c:pt idx="1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06E60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12</c:v>
                </c:pt>
                <c:pt idx="1">
                  <c:v>16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7A4FBF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13</c:v>
                </c:pt>
                <c:pt idx="1">
                  <c:v>17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B8860B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14</c:v>
                </c:pt>
                <c:pt idx="1">
                  <c:v>18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Series 6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15</c:v>
                </c:pt>
                <c:pt idx="1">
                  <c:v>19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Series 7</c:v>
                </c:pt>
              </c:strCache>
            </c:strRef>
          </c:tx>
          <c:spPr>
            <a:solidFill>
              <a:srgbClr val="8E244A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Sheet1!$H$2:$H$3</c:f>
              <c:numCache>
                <c:formatCode>General</c:formatCode>
                <c:ptCount val="2"/>
                <c:pt idx="0">
                  <c:v>16</c:v>
                </c:pt>
                <c:pt idx="1">
                  <c:v>20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Series 8</c:v>
                </c:pt>
              </c:strCache>
            </c:strRef>
          </c:tx>
          <c:spPr>
            <a:solidFill>
              <a:srgbClr val="3F51B5"/>
            </a:solidFill>
          </c:spPr>
          <c:cat>
            <c:strRef>
              <c:f>Sheet1!$A$2:$A$3</c:f>
              <c:strCache>
                <c:ptCount val="2"/>
                <c:pt idx="0">
                  <c:v>H1</c:v>
                </c:pt>
                <c:pt idx="1">
                  <c:v>H2</c:v>
                </c:pt>
              </c:strCache>
            </c:strRef>
          </c:cat>
          <c:val>
            <c:numRef>
              <c:f>Sheet1!$I$2:$I$3</c:f>
              <c:numCache>
                <c:formatCode>General</c:formatCode>
                <c:ptCount val="2"/>
                <c:pt idx="0">
                  <c:v>17</c:v>
                </c:pt>
                <c:pt idx="1">
                  <c:v>21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/>
      <p:sp>
        <p:nvSpPr>
          <p:cNvPr id="2" name="ph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  <p:sp>
        <p:nvSpPr>
          <p:cNvPr id="3" name="ph3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3238500"/>
          </a:xfrm>
          <a:prstGeom prst="rect">
            <a:avLst/>
          </a:prstGeom>
        </p:spPr>
        <p:txBody>
          <a:bodyPr anchor="t"/>
          <a:lstStyle>
            <a:lvl1pPr>
              <a:defRPr sz="1800"/>
            </a:lvl1pPr>
          </a:lstStyle>
          <a:p/>
        </p:txBody>
      </p:sp>
      <p:sp>
        <p:nvSpPr>
          <p:cNvPr id="4" name="ph4"/>
          <p:cNvSpPr>
            <a:spLocks noGrp="1"/>
          </p:cNvSpPr>
          <p:nvPr>
            <p:ph type="sldNum" idx="12"/>
          </p:nvPr>
        </p:nvSpPr>
        <p:spPr>
          <a:xfrm>
            <a:off x="10953750" y="6286500"/>
            <a:ext cx="571500" cy="285750"/>
          </a:xfrm>
          <a:prstGeom prst="rect">
            <a:avLst/>
          </a:prstGeom>
        </p:spPr>
        <p:txBody>
          <a:bodyPr anchor="t"/>
          <a:lstStyle>
            <a:lvl1pPr>
              <a:buNone/>
              <a:defRPr sz="1800"/>
            </a:lvl1pPr>
          </a:lstStyle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800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>
                <a:solidFill>
                  <a:srgbClr val="FFFFFF"/>
                </a:solidFill>
              </a:rPr>
              <a:t>One hex, three roles</a:t>
            </a:r>
          </a:p>
        </p:txBody>
      </p:sp>
      <p:sp>
        <p:nvSpPr>
          <p:cNvPr id="3" name="text3"/>
          <p:cNvSpPr>
            <a:spLocks noGrp="1"/>
          </p:cNvSpPr>
          <p:nvPr>
            <p:ph type="body" idx="1"/>
          </p:nvPr>
        </p:nvSpPr>
        <p:spPr>
          <a:xfrm>
            <a:off x="762000" y="2476500"/>
            <a:ext cx="10668000" cy="1905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2000" b="0" i="0" dirty="0">
                <a:solidFill>
                  <a:srgbClr val="1F4E79"/>
                </a:solidFill>
              </a:rPr>
              <a:t>This paragraph is set in the same hex the background uses and the chart uses for its first series.</a:t>
            </a:r>
          </a:p>
        </p:txBody>
      </p:sp>
      <p:sp>
        <p:nvSpPr>
          <p:cNvPr id="60" name="swatch-accent1"/>
          <p:cNvSpPr/>
          <p:nvPr/>
        </p:nvSpPr>
        <p:spPr>
          <a:xfrm>
            <a:off x="762000" y="4953000"/>
            <a:ext cx="1428750" cy="85725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/>
        </p:txBody>
      </p:sp>
      <p:sp>
        <p:nvSpPr>
          <p:cNvPr id="61" name="swatch-accent2"/>
          <p:cNvSpPr/>
          <p:nvPr/>
        </p:nvSpPr>
        <p:spPr>
          <a:xfrm>
            <a:off x="2476500" y="4953000"/>
            <a:ext cx="1428750" cy="857250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/>
        </p:txBody>
      </p:sp>
      <p:sp>
        <p:nvSpPr>
          <p:cNvPr id="62" name="swatch-accent3"/>
          <p:cNvSpPr/>
          <p:nvPr/>
        </p:nvSpPr>
        <p:spPr>
          <a:xfrm>
            <a:off x="4191000" y="4953000"/>
            <a:ext cx="1428750" cy="857250"/>
          </a:xfrm>
          <a:prstGeom prst="rect">
            <a:avLst/>
          </a:prstGeom>
          <a:solidFill>
            <a:schemeClr val="accent3"/>
          </a:solidFill>
        </p:spPr>
        <p:txBody>
          <a:bodyPr/>
          <a:lstStyle/>
          <a:p/>
        </p:txBody>
      </p:sp>
      <p:sp>
        <p:nvSpPr>
          <p:cNvPr id="63" name="swatch-accent4"/>
          <p:cNvSpPr/>
          <p:nvPr/>
        </p:nvSpPr>
        <p:spPr>
          <a:xfrm>
            <a:off x="5905500" y="4953000"/>
            <a:ext cx="1428750" cy="857250"/>
          </a:xfrm>
          <a:prstGeom prst="rect">
            <a:avLst/>
          </a:prstGeom>
          <a:solidFill>
            <a:schemeClr val="accent4"/>
          </a:solidFill>
        </p:spPr>
        <p:txBody>
          <a:bodyPr/>
          <a:lstStyle/>
          <a:p/>
        </p:txBody>
      </p:sp>
      <p:sp>
        <p:nvSpPr>
          <p:cNvPr id="64" name="swatch-accent5"/>
          <p:cNvSpPr/>
          <p:nvPr/>
        </p:nvSpPr>
        <p:spPr>
          <a:xfrm>
            <a:off x="7620000" y="4953000"/>
            <a:ext cx="1428750" cy="857250"/>
          </a:xfrm>
          <a:prstGeom prst="rect">
            <a:avLst/>
          </a:prstGeom>
          <a:solidFill>
            <a:schemeClr val="accent5"/>
          </a:solidFill>
        </p:spPr>
        <p:txBody>
          <a:bodyPr/>
          <a:lstStyle/>
          <a:p/>
        </p:txBody>
      </p:sp>
      <p:sp>
        <p:nvSpPr>
          <p:cNvPr id="65" name="swatch-accent6"/>
          <p:cNvSpPr/>
          <p:nvPr/>
        </p:nvSpPr>
        <p:spPr>
          <a:xfrm>
            <a:off x="9334500" y="4953000"/>
            <a:ext cx="1428750" cy="857250"/>
          </a:xfrm>
          <a:prstGeom prst="rect">
            <a:avLst/>
          </a:prstGeom>
          <a:solidFill>
            <a:schemeClr val="accent6"/>
          </a:solidFill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2"/>
          <p:cNvSpPr>
            <a:spLocks noGrp="1"/>
          </p:cNvSpPr>
          <p:nvPr>
            <p:ph type="title"/>
          </p:nvPr>
        </p:nvSpPr>
        <p:spPr>
          <a:xfrm>
            <a:off x="762000" y="1143000"/>
            <a:ext cx="10668000" cy="104775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r>
              <a:rPr lang="en-US" sz="3600" b="0" i="0" dirty="0"/>
              <a:t>Eight series</a:t>
            </a:r>
          </a:p>
        </p:txBody>
      </p:sp>
      <p:graphicFrame>
        <p:nvGraphicFramePr>
          <p:cNvPr id="66" name="eight-series-chart"/>
          <p:cNvGraphicFramePr/>
          <p:nvPr/>
        </p:nvGraphicFramePr>
        <p:xfrm>
          <a:off x="1143000" y="2476500"/>
          <a:ext cx="9906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01318"/>
      </a:dk1>
      <a:lt1>
        <a:srgbClr val="FFFFFF"/>
      </a:lt1>
      <a:dk2>
        <a:srgbClr val="1F4E79"/>
      </a:dk2>
      <a:lt2>
        <a:srgbClr val="E8EAEE"/>
      </a:lt2>
      <a:accent1>
        <a:srgbClr val="1F4E79"/>
      </a:accent1>
      <a:accent2>
        <a:srgbClr val="D65A28"/>
      </a:accent2>
      <a:accent3>
        <a:srgbClr val="106E60"/>
      </a:accent3>
      <a:accent4>
        <a:srgbClr val="7A4FBF"/>
      </a:accent4>
      <a:accent5>
        <a:srgbClr val="B8860B"/>
      </a:accent5>
      <a:accent6>
        <a:srgbClr val="2E7D32"/>
      </a:accent6>
      <a:hlink>
        <a:srgbClr val="336699"/>
      </a:hlink>
      <a:folHlink>
        <a:srgbClr val="6B7280"/>
      </a:folHlink>
    </a:clrScheme>
    <a:fontScheme name="Fixture">
      <a:majorFont>
        <a:latin typeface="Source Sans Pro"/>
        <a:ea typeface="Source Sans Pro"/>
        <a:cs typeface="Source Sans Pro"/>
      </a:majorFont>
      <a:minorFont>
        <a:latin typeface="Source Sans Pro"/>
        <a:ea typeface="Source Sans Pro"/>
        <a:cs typeface="Source Sans Pro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Lolly</Application>
  <Slides>2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Rebrand fixture: palette</dc:title>
  <dc:creator>Lolly</dc:creator>
  <cp:lastModifiedBy>Lolly</cp:lastModifiedBy>
  <dcterms:created xsi:type="dcterms:W3CDTF">2026-01-01T00:00:00Z</dcterms:created>
  <dcterms:modified xsi:type="dcterms:W3CDTF">2026-01-01T00:00:00Z</dcterms:modified>
</cp:coreProperties>
</file>